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6" r:id="rId16"/>
    <p:sldId id="268" r:id="rId17"/>
    <p:sldId id="271" r:id="rId18"/>
    <p:sldId id="273" r:id="rId19"/>
    <p:sldId id="274" r:id="rId20"/>
    <p:sldId id="277" r:id="rId21"/>
    <p:sldId id="281" r:id="rId22"/>
    <p:sldId id="278" r:id="rId23"/>
    <p:sldId id="279"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728"/>
    <p:restoredTop sz="94702"/>
  </p:normalViewPr>
  <p:slideViewPr>
    <p:cSldViewPr snapToGrid="0">
      <p:cViewPr varScale="1">
        <p:scale>
          <a:sx n="113" d="100"/>
          <a:sy n="113" d="100"/>
        </p:scale>
        <p:origin x="47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22T16:50:58.951"/>
    </inkml:context>
    <inkml:brush xml:id="br0">
      <inkml:brushProperty name="width" value="0.35" units="cm"/>
      <inkml:brushProperty name="height" value="0.35" units="cm"/>
      <inkml:brushProperty name="color" value="#FFFFFF"/>
    </inkml:brush>
  </inkml:definitions>
  <inkml:trace contextRef="#ctx0" brushRef="#br0">107 148 24575,'55'0'0,"3"0"0,9 0 0,10 0 0,5 0 0,-2 0 0,-10 0 0,-17 0 0,-12 0 0,-14 0 0,-10 1 0,-5 1 0,-4 0 0,1 0 0,5 1 0,9 4 0,14 1 0,14 3 0,7-1 0,4-2 0,-6-1 0,-5-4 0,-4-3 0,-7 1 0,0 2 0,-4 0 0,-3 0 0,-3-1 0,-6-2 0,1 0 0,0 0 0,-1 0 0,-3 0 0,-5 0 0,-4 0 0,-1 0 0,4 0 0,11 0 0,12 0 0,6 0 0,2 0 0,-10 0 0,-14 0 0,-15 0 0,-39-8 0,-10-7 0,-24-9 0,13-2 0,6 7 0,10 5 0,6 2 0,1-1 0,5-2 0,-5 0 0,-2 6 0,-5 0 0,-5 3 0,-6 3 0,-10 0 0,-1 3 0,-3 0 0,0 0 0,-2 0 0,-10 0 0,-9 3 0,-8 10 0,0 6 0,17 0 0,22-6 0,21-10 0,13-3 0,4 0 0,4 0 0,-1 0 0,-2 0 0,-5-2 0,0-1 0,-3-3 0,3 0 0,0 1 0,-3-1 0,1 2 0,-2-1 0,3 1 0,1 1 0,4 1 0,2 2 0,0 0 0,0-2 0,-3-1 0,-3-3 0,2 0 0,3-1 0,6-2 0,5 1 0,14 0 0,-4 3 0,13 2 0,-3 3 0,3 0 0,9 0 0,13 0 0,12 0 0,15 0 0,6 0 0,0 0 0,5 0 0,-3 0 0,-2 0 0,-1 0 0,-6 0 0,-5 0 0,-3 0 0,-5 0 0,-5 0 0,-4 0 0,-5 0 0,-1 0 0,-5 0 0,-4 0 0,-5 0 0,-6 0 0,-4 0 0,-4 0 0,1 0 0,4 0 0,6 0 0,7 0 0,7 0 0,3 0 0,1 0 0,-4 0 0,-5 0 0,-3 0 0,-4 0 0,-1 0 0,0 0 0,4 0 0,2 0 0,5 0 0,3 0 0,-2 0 0,-3 0 0,-4 0 0,-6 0 0,1 0 0,0 0 0,0 0 0,-1 0 0,1 0 0,0 0 0,0 0 0,-4 0 0,0 0 0,0 0 0,0 0 0,4 0 0,-1 0 0,-2 0 0,-2 0 0,1 0 0,1 0 0,3 0 0,0 0 0,0 0 0,-1 0 0,1 0 0,0 0 0,0 3 0,4 1 0,2 2 0,-1 2 0,0-1 0,-5 1 0,2 0 0,3 1 0,0 2 0,0 0 0,-3-1 0,-6-3 0,-5-1 0,-5 0 0,-5 0 0,1 5 0,4 1 0,-1 2 0,-5-3 0,-20-5 0,-28-3 0,-28-3 0,-19 0 0,0 0 0,12 0 0,16 0 0,14 0 0,1 0 0,-5 0 0,-16 0 0,-2 4 0,4 0 0,7 1 0,17-1 0,7-2 0,1 2 0,7-1 0,1-1 0,3-2 0,7 0 0,2 0 0,5 0 0,2 0 0,-6 0 0,3 0 0,-6 0 0,5 0 0,0 0 0,3-1 0,-1-5 0,3-2 0,-3-1 0,4 0 0,-3 2 0,-1-1 0,-1-3 0,-1-1 0,4 0 0,3 1 0,2 3 0,1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AA589A-0DBB-EE40-BC2B-E08A09469A6C}" type="datetimeFigureOut">
              <a:rPr lang="en-US" smtClean="0"/>
              <a:t>7/24/24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32CC63-50E0-6C46-A219-55E3DAB30704}" type="slidenum">
              <a:rPr lang="en-US" smtClean="0"/>
              <a:t>‹#›</a:t>
            </a:fld>
            <a:endParaRPr lang="en-US"/>
          </a:p>
        </p:txBody>
      </p:sp>
    </p:spTree>
    <p:extLst>
      <p:ext uri="{BB962C8B-B14F-4D97-AF65-F5344CB8AC3E}">
        <p14:creationId xmlns:p14="http://schemas.microsoft.com/office/powerpoint/2010/main" val="56936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32CC63-50E0-6C46-A219-55E3DAB30704}" type="slidenum">
              <a:rPr lang="en-US" smtClean="0"/>
              <a:t>4</a:t>
            </a:fld>
            <a:endParaRPr lang="en-US"/>
          </a:p>
        </p:txBody>
      </p:sp>
    </p:spTree>
    <p:extLst>
      <p:ext uri="{BB962C8B-B14F-4D97-AF65-F5344CB8AC3E}">
        <p14:creationId xmlns:p14="http://schemas.microsoft.com/office/powerpoint/2010/main" val="3017560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GB"/>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50AC1CD1-33FA-0D41-A9F6-BE5E7F10E430}" type="datetimeFigureOut">
              <a:rPr lang="en-US" smtClean="0"/>
              <a:t>7/24/24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8195D4C-30AB-1842-82CD-D45FB83B1D2E}" type="slidenum">
              <a:rPr lang="en-US" smtClean="0"/>
              <a:t>‹#›</a:t>
            </a:fld>
            <a:endParaRPr lang="en-US"/>
          </a:p>
        </p:txBody>
      </p:sp>
    </p:spTree>
    <p:extLst>
      <p:ext uri="{BB962C8B-B14F-4D97-AF65-F5344CB8AC3E}">
        <p14:creationId xmlns:p14="http://schemas.microsoft.com/office/powerpoint/2010/main" val="1207687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GB"/>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0AC1CD1-33FA-0D41-A9F6-BE5E7F10E430}" type="datetimeFigureOut">
              <a:rPr lang="en-US" smtClean="0"/>
              <a:t>7/24/24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8195D4C-30AB-1842-82CD-D45FB83B1D2E}" type="slidenum">
              <a:rPr lang="en-US" smtClean="0"/>
              <a:t>‹#›</a:t>
            </a:fld>
            <a:endParaRPr lang="en-US"/>
          </a:p>
        </p:txBody>
      </p:sp>
    </p:spTree>
    <p:extLst>
      <p:ext uri="{BB962C8B-B14F-4D97-AF65-F5344CB8AC3E}">
        <p14:creationId xmlns:p14="http://schemas.microsoft.com/office/powerpoint/2010/main" val="2964208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0AC1CD1-33FA-0D41-A9F6-BE5E7F10E430}" type="datetimeFigureOut">
              <a:rPr lang="en-US" smtClean="0"/>
              <a:t>7/24/24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8195D4C-30AB-1842-82CD-D45FB83B1D2E}" type="slidenum">
              <a:rPr lang="en-US" smtClean="0"/>
              <a:t>‹#›</a:t>
            </a:fld>
            <a:endParaRPr lang="en-US"/>
          </a:p>
        </p:txBody>
      </p:sp>
    </p:spTree>
    <p:extLst>
      <p:ext uri="{BB962C8B-B14F-4D97-AF65-F5344CB8AC3E}">
        <p14:creationId xmlns:p14="http://schemas.microsoft.com/office/powerpoint/2010/main" val="2241245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0AC1CD1-33FA-0D41-A9F6-BE5E7F10E430}" type="datetimeFigureOut">
              <a:rPr lang="en-US" smtClean="0"/>
              <a:t>7/24/24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8195D4C-30AB-1842-82CD-D45FB83B1D2E}" type="slidenum">
              <a:rPr lang="en-US" smtClean="0"/>
              <a:t>‹#›</a:t>
            </a:fld>
            <a:endParaRPr lang="en-US"/>
          </a:p>
        </p:txBody>
      </p:sp>
    </p:spTree>
    <p:extLst>
      <p:ext uri="{BB962C8B-B14F-4D97-AF65-F5344CB8AC3E}">
        <p14:creationId xmlns:p14="http://schemas.microsoft.com/office/powerpoint/2010/main" val="1051854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0AC1CD1-33FA-0D41-A9F6-BE5E7F10E430}" type="datetimeFigureOut">
              <a:rPr lang="en-US" smtClean="0"/>
              <a:t>7/24/24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8195D4C-30AB-1842-82CD-D45FB83B1D2E}" type="slidenum">
              <a:rPr lang="en-US" smtClean="0"/>
              <a:t>‹#›</a:t>
            </a:fld>
            <a:endParaRPr lang="en-US"/>
          </a:p>
        </p:txBody>
      </p:sp>
    </p:spTree>
    <p:extLst>
      <p:ext uri="{BB962C8B-B14F-4D97-AF65-F5344CB8AC3E}">
        <p14:creationId xmlns:p14="http://schemas.microsoft.com/office/powerpoint/2010/main" val="3689824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0AC1CD1-33FA-0D41-A9F6-BE5E7F10E430}" type="datetimeFigureOut">
              <a:rPr lang="en-US" smtClean="0"/>
              <a:t>7/24/24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8195D4C-30AB-1842-82CD-D45FB83B1D2E}" type="slidenum">
              <a:rPr lang="en-US" smtClean="0"/>
              <a:t>‹#›</a:t>
            </a:fld>
            <a:endParaRPr lang="en-US"/>
          </a:p>
        </p:txBody>
      </p:sp>
    </p:spTree>
    <p:extLst>
      <p:ext uri="{BB962C8B-B14F-4D97-AF65-F5344CB8AC3E}">
        <p14:creationId xmlns:p14="http://schemas.microsoft.com/office/powerpoint/2010/main" val="2348826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AC1CD1-33FA-0D41-A9F6-BE5E7F10E430}" type="datetimeFigureOut">
              <a:rPr lang="en-US" smtClean="0"/>
              <a:t>7/24/24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8195D4C-30AB-1842-82CD-D45FB83B1D2E}" type="slidenum">
              <a:rPr lang="en-US" smtClean="0"/>
              <a:t>‹#›</a:t>
            </a:fld>
            <a:endParaRPr lang="en-US"/>
          </a:p>
        </p:txBody>
      </p:sp>
    </p:spTree>
    <p:extLst>
      <p:ext uri="{BB962C8B-B14F-4D97-AF65-F5344CB8AC3E}">
        <p14:creationId xmlns:p14="http://schemas.microsoft.com/office/powerpoint/2010/main" val="1326397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GB"/>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0AC1CD1-33FA-0D41-A9F6-BE5E7F10E430}" type="datetimeFigureOut">
              <a:rPr lang="en-US" smtClean="0"/>
              <a:t>7/24/24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8195D4C-30AB-1842-82CD-D45FB83B1D2E}" type="slidenum">
              <a:rPr lang="en-US" smtClean="0"/>
              <a:t>‹#›</a:t>
            </a:fld>
            <a:endParaRPr lang="en-US"/>
          </a:p>
        </p:txBody>
      </p:sp>
    </p:spTree>
    <p:extLst>
      <p:ext uri="{BB962C8B-B14F-4D97-AF65-F5344CB8AC3E}">
        <p14:creationId xmlns:p14="http://schemas.microsoft.com/office/powerpoint/2010/main" val="4227612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0AC1CD1-33FA-0D41-A9F6-BE5E7F10E430}" type="datetimeFigureOut">
              <a:rPr lang="en-US" smtClean="0"/>
              <a:t>7/24/24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8195D4C-30AB-1842-82CD-D45FB83B1D2E}" type="slidenum">
              <a:rPr lang="en-US" smtClean="0"/>
              <a:t>‹#›</a:t>
            </a:fld>
            <a:endParaRPr lang="en-US"/>
          </a:p>
        </p:txBody>
      </p:sp>
    </p:spTree>
    <p:extLst>
      <p:ext uri="{BB962C8B-B14F-4D97-AF65-F5344CB8AC3E}">
        <p14:creationId xmlns:p14="http://schemas.microsoft.com/office/powerpoint/2010/main" val="2642509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GB"/>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0AC1CD1-33FA-0D41-A9F6-BE5E7F10E430}" type="datetimeFigureOut">
              <a:rPr lang="en-US" smtClean="0"/>
              <a:t>7/24/24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8195D4C-30AB-1842-82CD-D45FB83B1D2E}" type="slidenum">
              <a:rPr lang="en-US" smtClean="0"/>
              <a:t>‹#›</a:t>
            </a:fld>
            <a:endParaRPr lang="en-US"/>
          </a:p>
        </p:txBody>
      </p:sp>
    </p:spTree>
    <p:extLst>
      <p:ext uri="{BB962C8B-B14F-4D97-AF65-F5344CB8AC3E}">
        <p14:creationId xmlns:p14="http://schemas.microsoft.com/office/powerpoint/2010/main" val="1894175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0AC1CD1-33FA-0D41-A9F6-BE5E7F10E430}" type="datetimeFigureOut">
              <a:rPr lang="en-US" smtClean="0"/>
              <a:t>7/24/24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8195D4C-30AB-1842-82CD-D45FB83B1D2E}"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30806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GB"/>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50AC1CD1-33FA-0D41-A9F6-BE5E7F10E430}" type="datetimeFigureOut">
              <a:rPr lang="en-US" smtClean="0"/>
              <a:t>7/24/24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8195D4C-30AB-1842-82CD-D45FB83B1D2E}" type="slidenum">
              <a:rPr lang="en-US" smtClean="0"/>
              <a:t>‹#›</a:t>
            </a:fld>
            <a:endParaRPr lang="en-US"/>
          </a:p>
        </p:txBody>
      </p:sp>
    </p:spTree>
    <p:extLst>
      <p:ext uri="{BB962C8B-B14F-4D97-AF65-F5344CB8AC3E}">
        <p14:creationId xmlns:p14="http://schemas.microsoft.com/office/powerpoint/2010/main" val="25797738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50AC1CD1-33FA-0D41-A9F6-BE5E7F10E430}" type="datetimeFigureOut">
              <a:rPr lang="en-US" smtClean="0"/>
              <a:t>7/24/24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8195D4C-30AB-1842-82CD-D45FB83B1D2E}"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635980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GB"/>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GB"/>
              <a:t>Click to edit Master text styles</a:t>
            </a:r>
          </a:p>
        </p:txBody>
      </p:sp>
      <p:sp>
        <p:nvSpPr>
          <p:cNvPr id="5" name="Date Placeholder 4"/>
          <p:cNvSpPr>
            <a:spLocks noGrp="1"/>
          </p:cNvSpPr>
          <p:nvPr>
            <p:ph type="dt" sz="half" idx="10"/>
          </p:nvPr>
        </p:nvSpPr>
        <p:spPr/>
        <p:txBody>
          <a:bodyPr/>
          <a:lstStyle/>
          <a:p>
            <a:fld id="{50AC1CD1-33FA-0D41-A9F6-BE5E7F10E430}" type="datetimeFigureOut">
              <a:rPr lang="en-US" smtClean="0"/>
              <a:t>7/24/24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8195D4C-30AB-1842-82CD-D45FB83B1D2E}" type="slidenum">
              <a:rPr lang="en-US" smtClean="0"/>
              <a:t>‹#›</a:t>
            </a:fld>
            <a:endParaRPr lang="en-US"/>
          </a:p>
        </p:txBody>
      </p:sp>
    </p:spTree>
    <p:extLst>
      <p:ext uri="{BB962C8B-B14F-4D97-AF65-F5344CB8AC3E}">
        <p14:creationId xmlns:p14="http://schemas.microsoft.com/office/powerpoint/2010/main" val="28658037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0AC1CD1-33FA-0D41-A9F6-BE5E7F10E430}" type="datetimeFigureOut">
              <a:rPr lang="en-US" smtClean="0"/>
              <a:t>7/24/24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8195D4C-30AB-1842-82CD-D45FB83B1D2E}" type="slidenum">
              <a:rPr lang="en-US" smtClean="0"/>
              <a:t>‹#›</a:t>
            </a:fld>
            <a:endParaRPr lang="en-US"/>
          </a:p>
        </p:txBody>
      </p:sp>
    </p:spTree>
    <p:extLst>
      <p:ext uri="{BB962C8B-B14F-4D97-AF65-F5344CB8AC3E}">
        <p14:creationId xmlns:p14="http://schemas.microsoft.com/office/powerpoint/2010/main" val="13992691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0AC1CD1-33FA-0D41-A9F6-BE5E7F10E430}" type="datetimeFigureOut">
              <a:rPr lang="en-US" smtClean="0"/>
              <a:t>7/24/24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8195D4C-30AB-1842-82CD-D45FB83B1D2E}" type="slidenum">
              <a:rPr lang="en-US" smtClean="0"/>
              <a:t>‹#›</a:t>
            </a:fld>
            <a:endParaRPr lang="en-US"/>
          </a:p>
        </p:txBody>
      </p:sp>
    </p:spTree>
    <p:extLst>
      <p:ext uri="{BB962C8B-B14F-4D97-AF65-F5344CB8AC3E}">
        <p14:creationId xmlns:p14="http://schemas.microsoft.com/office/powerpoint/2010/main" val="2922882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0AC1CD1-33FA-0D41-A9F6-BE5E7F10E430}" type="datetimeFigureOut">
              <a:rPr lang="en-US" smtClean="0"/>
              <a:t>7/24/24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8195D4C-30AB-1842-82CD-D45FB83B1D2E}" type="slidenum">
              <a:rPr lang="en-US" smtClean="0"/>
              <a:t>‹#›</a:t>
            </a:fld>
            <a:endParaRPr lang="en-US"/>
          </a:p>
        </p:txBody>
      </p:sp>
    </p:spTree>
    <p:extLst>
      <p:ext uri="{BB962C8B-B14F-4D97-AF65-F5344CB8AC3E}">
        <p14:creationId xmlns:p14="http://schemas.microsoft.com/office/powerpoint/2010/main" val="39777712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200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E7BC3-E909-B782-C693-81E72B75E697}"/>
              </a:ext>
            </a:extLst>
          </p:cNvPr>
          <p:cNvSpPr>
            <a:spLocks noGrp="1"/>
          </p:cNvSpPr>
          <p:nvPr>
            <p:ph type="ctrTitle"/>
          </p:nvPr>
        </p:nvSpPr>
        <p:spPr>
          <a:xfrm>
            <a:off x="620889" y="3429000"/>
            <a:ext cx="10759545" cy="2262781"/>
          </a:xfrm>
        </p:spPr>
        <p:txBody>
          <a:bodyPr>
            <a:normAutofit fontScale="90000"/>
          </a:bodyPr>
          <a:lstStyle/>
          <a:p>
            <a:pPr algn="ctr"/>
            <a:r>
              <a:rPr lang="en-US" b="1" dirty="0"/>
              <a:t>AIIM – 2024</a:t>
            </a:r>
            <a:br>
              <a:rPr lang="en-US" dirty="0"/>
            </a:br>
            <a:r>
              <a:rPr lang="en-US" dirty="0"/>
              <a:t>Insights on Computation Biology</a:t>
            </a:r>
            <a:br>
              <a:rPr lang="en-US" dirty="0"/>
            </a:br>
            <a:r>
              <a:rPr lang="en-US" dirty="0"/>
              <a:t> &amp; Structural Visualization of</a:t>
            </a:r>
            <a:br>
              <a:rPr lang="en-US" dirty="0"/>
            </a:br>
            <a:r>
              <a:rPr lang="en-US" dirty="0"/>
              <a:t>Proteins</a:t>
            </a:r>
          </a:p>
        </p:txBody>
      </p:sp>
      <p:sp>
        <p:nvSpPr>
          <p:cNvPr id="3" name="Subtitle 2">
            <a:extLst>
              <a:ext uri="{FF2B5EF4-FFF2-40B4-BE49-F238E27FC236}">
                <a16:creationId xmlns:a16="http://schemas.microsoft.com/office/drawing/2014/main" id="{0F7BB536-15CA-F51B-5288-0D1878A30017}"/>
              </a:ext>
            </a:extLst>
          </p:cNvPr>
          <p:cNvSpPr>
            <a:spLocks noGrp="1"/>
          </p:cNvSpPr>
          <p:nvPr>
            <p:ph type="subTitle" idx="1"/>
          </p:nvPr>
        </p:nvSpPr>
        <p:spPr>
          <a:xfrm>
            <a:off x="7872412" y="5645654"/>
            <a:ext cx="3800299" cy="1126283"/>
          </a:xfrm>
        </p:spPr>
        <p:txBody>
          <a:bodyPr>
            <a:normAutofit fontScale="92500"/>
          </a:bodyPr>
          <a:lstStyle/>
          <a:p>
            <a:r>
              <a:rPr lang="en-US" sz="2400" b="1" dirty="0"/>
              <a:t>Anirudh Gupta, </a:t>
            </a:r>
            <a:r>
              <a:rPr lang="en-US" sz="2400" b="1" dirty="0" err="1"/>
              <a:t>Susmit</a:t>
            </a:r>
            <a:r>
              <a:rPr lang="en-US" sz="2400" b="1" dirty="0"/>
              <a:t> Roy</a:t>
            </a:r>
          </a:p>
          <a:p>
            <a:r>
              <a:rPr lang="en-US" sz="2400" b="1" dirty="0"/>
              <a:t>IISc Software</a:t>
            </a:r>
          </a:p>
          <a:p>
            <a:endParaRPr lang="en-US" dirty="0"/>
          </a:p>
        </p:txBody>
      </p:sp>
      <p:pic>
        <p:nvPicPr>
          <p:cNvPr id="5" name="Picture 4">
            <a:extLst>
              <a:ext uri="{FF2B5EF4-FFF2-40B4-BE49-F238E27FC236}">
                <a16:creationId xmlns:a16="http://schemas.microsoft.com/office/drawing/2014/main" id="{31CF10FB-C82E-3160-2EFB-6C0E2A5521CA}"/>
              </a:ext>
            </a:extLst>
          </p:cNvPr>
          <p:cNvPicPr>
            <a:picLocks noChangeAspect="1"/>
          </p:cNvPicPr>
          <p:nvPr/>
        </p:nvPicPr>
        <p:blipFill>
          <a:blip r:embed="rId2"/>
          <a:stretch>
            <a:fillRect/>
          </a:stretch>
        </p:blipFill>
        <p:spPr>
          <a:xfrm>
            <a:off x="4193117" y="321748"/>
            <a:ext cx="3309410" cy="2262781"/>
          </a:xfrm>
          <a:prstGeom prst="rect">
            <a:avLst/>
          </a:prstGeom>
        </p:spPr>
      </p:pic>
      <p:pic>
        <p:nvPicPr>
          <p:cNvPr id="8" name="Picture 7">
            <a:extLst>
              <a:ext uri="{FF2B5EF4-FFF2-40B4-BE49-F238E27FC236}">
                <a16:creationId xmlns:a16="http://schemas.microsoft.com/office/drawing/2014/main" id="{418A020E-8FF6-8EAB-9E88-B0251F2ED299}"/>
              </a:ext>
            </a:extLst>
          </p:cNvPr>
          <p:cNvPicPr>
            <a:picLocks noChangeAspect="1"/>
          </p:cNvPicPr>
          <p:nvPr/>
        </p:nvPicPr>
        <p:blipFill>
          <a:blip r:embed="rId3"/>
          <a:stretch>
            <a:fillRect/>
          </a:stretch>
        </p:blipFill>
        <p:spPr>
          <a:xfrm>
            <a:off x="8359564" y="86063"/>
            <a:ext cx="3864571" cy="2734149"/>
          </a:xfrm>
          <a:prstGeom prst="rect">
            <a:avLst/>
          </a:prstGeom>
        </p:spPr>
      </p:pic>
    </p:spTree>
    <p:extLst>
      <p:ext uri="{BB962C8B-B14F-4D97-AF65-F5344CB8AC3E}">
        <p14:creationId xmlns:p14="http://schemas.microsoft.com/office/powerpoint/2010/main" val="1238524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A1692-CA0E-952F-6BA2-D9F86E34BB0B}"/>
              </a:ext>
            </a:extLst>
          </p:cNvPr>
          <p:cNvSpPr>
            <a:spLocks noGrp="1"/>
          </p:cNvSpPr>
          <p:nvPr>
            <p:ph type="title"/>
          </p:nvPr>
        </p:nvSpPr>
        <p:spPr/>
        <p:txBody>
          <a:bodyPr/>
          <a:lstStyle/>
          <a:p>
            <a:r>
              <a:rPr lang="en-US" dirty="0"/>
              <a:t>What we will cover today – Part I</a:t>
            </a:r>
          </a:p>
        </p:txBody>
      </p:sp>
      <p:sp>
        <p:nvSpPr>
          <p:cNvPr id="3" name="Content Placeholder 2">
            <a:extLst>
              <a:ext uri="{FF2B5EF4-FFF2-40B4-BE49-F238E27FC236}">
                <a16:creationId xmlns:a16="http://schemas.microsoft.com/office/drawing/2014/main" id="{E8CD9CF3-F817-B803-5946-969089C68AE7}"/>
              </a:ext>
            </a:extLst>
          </p:cNvPr>
          <p:cNvSpPr>
            <a:spLocks noGrp="1"/>
          </p:cNvSpPr>
          <p:nvPr>
            <p:ph idx="1"/>
          </p:nvPr>
        </p:nvSpPr>
        <p:spPr>
          <a:xfrm>
            <a:off x="2205834" y="1756854"/>
            <a:ext cx="9685867" cy="5424311"/>
          </a:xfrm>
        </p:spPr>
        <p:txBody>
          <a:bodyPr>
            <a:normAutofit/>
          </a:bodyPr>
          <a:lstStyle/>
          <a:p>
            <a:r>
              <a:rPr lang="en-US" dirty="0"/>
              <a:t>Introduction to Computation Biology</a:t>
            </a:r>
          </a:p>
          <a:p>
            <a:r>
              <a:rPr lang="en-US" dirty="0"/>
              <a:t>Introducing </a:t>
            </a:r>
            <a:r>
              <a:rPr lang="en-US" dirty="0" err="1"/>
              <a:t>Softwares</a:t>
            </a:r>
            <a:r>
              <a:rPr lang="en-US" dirty="0"/>
              <a:t> used in Protein </a:t>
            </a:r>
            <a:r>
              <a:rPr lang="en-US" dirty="0" err="1"/>
              <a:t>Visualisations</a:t>
            </a:r>
            <a:r>
              <a:rPr lang="en-US" dirty="0"/>
              <a:t> like </a:t>
            </a:r>
            <a:r>
              <a:rPr lang="en-US" dirty="0" err="1"/>
              <a:t>Pymol</a:t>
            </a:r>
            <a:r>
              <a:rPr lang="en-US" dirty="0"/>
              <a:t>, Chimera, etc.</a:t>
            </a:r>
          </a:p>
          <a:p>
            <a:r>
              <a:rPr lang="en-US" dirty="0"/>
              <a:t>Brief discussion on various file types used </a:t>
            </a:r>
            <a:r>
              <a:rPr lang="en-US" dirty="0" err="1"/>
              <a:t>eg.</a:t>
            </a:r>
            <a:r>
              <a:rPr lang="en-US" dirty="0"/>
              <a:t> </a:t>
            </a:r>
            <a:r>
              <a:rPr lang="en-US" dirty="0" err="1"/>
              <a:t>pdb</a:t>
            </a:r>
            <a:r>
              <a:rPr lang="en-US" dirty="0"/>
              <a:t>, </a:t>
            </a:r>
            <a:r>
              <a:rPr lang="en-US" dirty="0" err="1"/>
              <a:t>pqr</a:t>
            </a:r>
            <a:r>
              <a:rPr lang="en-US" dirty="0"/>
              <a:t>, </a:t>
            </a:r>
            <a:r>
              <a:rPr lang="en-US" dirty="0" err="1"/>
              <a:t>xyz</a:t>
            </a:r>
            <a:r>
              <a:rPr lang="en-US" dirty="0"/>
              <a:t>, dx, etc.</a:t>
            </a:r>
          </a:p>
          <a:p>
            <a:r>
              <a:rPr lang="en-US" dirty="0"/>
              <a:t>Understanding </a:t>
            </a:r>
            <a:r>
              <a:rPr lang="en-US" dirty="0" err="1"/>
              <a:t>Pymol</a:t>
            </a:r>
            <a:r>
              <a:rPr lang="en-US" dirty="0"/>
              <a:t> UI</a:t>
            </a:r>
          </a:p>
          <a:p>
            <a:pPr lvl="1"/>
            <a:r>
              <a:rPr lang="en-US" dirty="0"/>
              <a:t>Protein </a:t>
            </a:r>
            <a:r>
              <a:rPr lang="en-US" dirty="0" err="1"/>
              <a:t>Visualisation</a:t>
            </a:r>
            <a:endParaRPr lang="en-US" dirty="0"/>
          </a:p>
          <a:p>
            <a:pPr lvl="1"/>
            <a:r>
              <a:rPr lang="en-US" dirty="0"/>
              <a:t>Displaying sequences and messing around</a:t>
            </a:r>
          </a:p>
          <a:p>
            <a:pPr lvl="1"/>
            <a:r>
              <a:rPr lang="en-US" dirty="0" err="1"/>
              <a:t>Alighnments</a:t>
            </a:r>
            <a:r>
              <a:rPr lang="en-US" dirty="0"/>
              <a:t> of two proteins</a:t>
            </a:r>
          </a:p>
          <a:p>
            <a:pPr lvl="1"/>
            <a:r>
              <a:rPr lang="en-US" dirty="0"/>
              <a:t>Morphing of two proteins</a:t>
            </a:r>
          </a:p>
          <a:p>
            <a:pPr lvl="1"/>
            <a:r>
              <a:rPr lang="en-US" dirty="0"/>
              <a:t>Mutations</a:t>
            </a:r>
          </a:p>
        </p:txBody>
      </p:sp>
      <p:sp>
        <p:nvSpPr>
          <p:cNvPr id="5" name="TextBox 4">
            <a:extLst>
              <a:ext uri="{FF2B5EF4-FFF2-40B4-BE49-F238E27FC236}">
                <a16:creationId xmlns:a16="http://schemas.microsoft.com/office/drawing/2014/main" id="{41536562-C580-1EE0-EC2D-5C74262D9F32}"/>
              </a:ext>
            </a:extLst>
          </p:cNvPr>
          <p:cNvSpPr txBox="1"/>
          <p:nvPr/>
        </p:nvSpPr>
        <p:spPr>
          <a:xfrm>
            <a:off x="5937956" y="1433689"/>
            <a:ext cx="5858933" cy="646331"/>
          </a:xfrm>
          <a:prstGeom prst="rect">
            <a:avLst/>
          </a:prstGeom>
          <a:noFill/>
        </p:spPr>
        <p:txBody>
          <a:bodyPr wrap="square">
            <a:spAutoFit/>
          </a:bodyPr>
          <a:lstStyle/>
          <a:p>
            <a:endParaRPr lang="en-US" dirty="0"/>
          </a:p>
          <a:p>
            <a:endParaRPr lang="en-US" dirty="0"/>
          </a:p>
        </p:txBody>
      </p:sp>
      <p:pic>
        <p:nvPicPr>
          <p:cNvPr id="4" name="Picture 3">
            <a:extLst>
              <a:ext uri="{FF2B5EF4-FFF2-40B4-BE49-F238E27FC236}">
                <a16:creationId xmlns:a16="http://schemas.microsoft.com/office/drawing/2014/main" id="{193B014F-8288-F1DF-CC95-D9C13C449EC5}"/>
              </a:ext>
            </a:extLst>
          </p:cNvPr>
          <p:cNvPicPr>
            <a:picLocks noChangeAspect="1"/>
          </p:cNvPicPr>
          <p:nvPr/>
        </p:nvPicPr>
        <p:blipFill>
          <a:blip r:embed="rId2"/>
          <a:stretch>
            <a:fillRect/>
          </a:stretch>
        </p:blipFill>
        <p:spPr>
          <a:xfrm>
            <a:off x="7301795" y="3758892"/>
            <a:ext cx="3309410" cy="2744389"/>
          </a:xfrm>
          <a:prstGeom prst="rect">
            <a:avLst/>
          </a:prstGeom>
        </p:spPr>
      </p:pic>
    </p:spTree>
    <p:extLst>
      <p:ext uri="{BB962C8B-B14F-4D97-AF65-F5344CB8AC3E}">
        <p14:creationId xmlns:p14="http://schemas.microsoft.com/office/powerpoint/2010/main" val="2797551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4B8B8-D932-BF8A-3301-7B02AFFB9E5E}"/>
              </a:ext>
            </a:extLst>
          </p:cNvPr>
          <p:cNvSpPr>
            <a:spLocks noGrp="1"/>
          </p:cNvSpPr>
          <p:nvPr>
            <p:ph type="title"/>
          </p:nvPr>
        </p:nvSpPr>
        <p:spPr/>
        <p:txBody>
          <a:bodyPr/>
          <a:lstStyle/>
          <a:p>
            <a:r>
              <a:rPr lang="en-US" dirty="0"/>
              <a:t>What we will cover today – Part II</a:t>
            </a:r>
          </a:p>
        </p:txBody>
      </p:sp>
      <p:sp>
        <p:nvSpPr>
          <p:cNvPr id="3" name="Content Placeholder 2">
            <a:extLst>
              <a:ext uri="{FF2B5EF4-FFF2-40B4-BE49-F238E27FC236}">
                <a16:creationId xmlns:a16="http://schemas.microsoft.com/office/drawing/2014/main" id="{5B199808-1692-78B5-5428-C4BA1BFE6E7A}"/>
              </a:ext>
            </a:extLst>
          </p:cNvPr>
          <p:cNvSpPr>
            <a:spLocks noGrp="1"/>
          </p:cNvSpPr>
          <p:nvPr>
            <p:ph idx="1"/>
          </p:nvPr>
        </p:nvSpPr>
        <p:spPr>
          <a:xfrm>
            <a:off x="2589212" y="2133600"/>
            <a:ext cx="8915400" cy="3777622"/>
          </a:xfrm>
        </p:spPr>
        <p:txBody>
          <a:bodyPr/>
          <a:lstStyle/>
          <a:p>
            <a:r>
              <a:rPr lang="en-US" dirty="0" err="1"/>
              <a:t>Pymol</a:t>
            </a:r>
            <a:r>
              <a:rPr lang="en-US" dirty="0"/>
              <a:t> with Python</a:t>
            </a:r>
          </a:p>
          <a:p>
            <a:r>
              <a:rPr lang="en-US" dirty="0"/>
              <a:t>Introduction to APBS used for Electrostatics</a:t>
            </a:r>
          </a:p>
          <a:p>
            <a:pPr lvl="1"/>
            <a:r>
              <a:rPr lang="en-US" dirty="0"/>
              <a:t>Idea and Concepts behind APBS</a:t>
            </a:r>
          </a:p>
          <a:p>
            <a:pPr lvl="1"/>
            <a:r>
              <a:rPr lang="en-US" dirty="0"/>
              <a:t>Calculating values using Web servers</a:t>
            </a:r>
          </a:p>
          <a:p>
            <a:r>
              <a:rPr lang="en-US" dirty="0" err="1"/>
              <a:t>Pymol</a:t>
            </a:r>
            <a:r>
              <a:rPr lang="en-US" dirty="0"/>
              <a:t> and APBS</a:t>
            </a:r>
          </a:p>
          <a:p>
            <a:r>
              <a:rPr lang="en-US" dirty="0"/>
              <a:t>Command Line and Automation with APBS</a:t>
            </a:r>
          </a:p>
          <a:p>
            <a:r>
              <a:rPr lang="en-US" dirty="0"/>
              <a:t>Q n A’s</a:t>
            </a:r>
          </a:p>
          <a:p>
            <a:pPr marL="0" indent="0">
              <a:buNone/>
            </a:pPr>
            <a:endParaRPr lang="en-US" dirty="0"/>
          </a:p>
        </p:txBody>
      </p:sp>
    </p:spTree>
    <p:extLst>
      <p:ext uri="{BB962C8B-B14F-4D97-AF65-F5344CB8AC3E}">
        <p14:creationId xmlns:p14="http://schemas.microsoft.com/office/powerpoint/2010/main" val="2024863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71BA4-6EE0-8257-789E-B089BB2A2A0E}"/>
              </a:ext>
            </a:extLst>
          </p:cNvPr>
          <p:cNvSpPr>
            <a:spLocks noGrp="1"/>
          </p:cNvSpPr>
          <p:nvPr>
            <p:ph type="title"/>
          </p:nvPr>
        </p:nvSpPr>
        <p:spPr/>
        <p:txBody>
          <a:bodyPr/>
          <a:lstStyle/>
          <a:p>
            <a:r>
              <a:rPr lang="en-US" dirty="0"/>
              <a:t>Introduction to Computational Biology</a:t>
            </a:r>
          </a:p>
        </p:txBody>
      </p:sp>
      <p:sp>
        <p:nvSpPr>
          <p:cNvPr id="3" name="Content Placeholder 2">
            <a:extLst>
              <a:ext uri="{FF2B5EF4-FFF2-40B4-BE49-F238E27FC236}">
                <a16:creationId xmlns:a16="http://schemas.microsoft.com/office/drawing/2014/main" id="{8E0609B0-5393-60C1-E2E2-E40DAC5A1326}"/>
              </a:ext>
            </a:extLst>
          </p:cNvPr>
          <p:cNvSpPr>
            <a:spLocks noGrp="1"/>
          </p:cNvSpPr>
          <p:nvPr>
            <p:ph idx="1"/>
          </p:nvPr>
        </p:nvSpPr>
        <p:spPr>
          <a:xfrm>
            <a:off x="2589212" y="1636889"/>
            <a:ext cx="8915400" cy="3777622"/>
          </a:xfrm>
        </p:spPr>
        <p:txBody>
          <a:bodyPr/>
          <a:lstStyle/>
          <a:p>
            <a:r>
              <a:rPr lang="en-US" dirty="0"/>
              <a:t>All of you may already know what computational biology by know, cause everyone here is a part of </a:t>
            </a:r>
            <a:r>
              <a:rPr lang="en-US" dirty="0" err="1"/>
              <a:t>iGEM</a:t>
            </a:r>
            <a:r>
              <a:rPr lang="en-US" dirty="0"/>
              <a:t>.</a:t>
            </a:r>
          </a:p>
          <a:p>
            <a:r>
              <a:rPr lang="en-US" dirty="0"/>
              <a:t>In short</a:t>
            </a:r>
          </a:p>
        </p:txBody>
      </p:sp>
      <p:pic>
        <p:nvPicPr>
          <p:cNvPr id="4" name="Picture 3">
            <a:extLst>
              <a:ext uri="{FF2B5EF4-FFF2-40B4-BE49-F238E27FC236}">
                <a16:creationId xmlns:a16="http://schemas.microsoft.com/office/drawing/2014/main" id="{CA053997-D6DC-83F2-1CF9-A4BA30F7DD7D}"/>
              </a:ext>
            </a:extLst>
          </p:cNvPr>
          <p:cNvPicPr>
            <a:picLocks noChangeAspect="1"/>
          </p:cNvPicPr>
          <p:nvPr/>
        </p:nvPicPr>
        <p:blipFill>
          <a:blip r:embed="rId3"/>
          <a:stretch>
            <a:fillRect/>
          </a:stretch>
        </p:blipFill>
        <p:spPr>
          <a:xfrm>
            <a:off x="2589212" y="2730032"/>
            <a:ext cx="7772400" cy="3994381"/>
          </a:xfrm>
          <a:prstGeom prst="rect">
            <a:avLst/>
          </a:prstGeom>
          <a:ln>
            <a:solidFill>
              <a:schemeClr val="bg2">
                <a:lumMod val="10000"/>
              </a:schemeClr>
            </a:solidFill>
          </a:ln>
        </p:spPr>
      </p:pic>
      <mc:AlternateContent xmlns:mc="http://schemas.openxmlformats.org/markup-compatibility/2006" xmlns:p14="http://schemas.microsoft.com/office/powerpoint/2010/main">
        <mc:Choice Requires="p14">
          <p:contentPart p14:bwMode="auto" r:id="rId4">
            <p14:nvContentPartPr>
              <p14:cNvPr id="29" name="Ink 28">
                <a:extLst>
                  <a:ext uri="{FF2B5EF4-FFF2-40B4-BE49-F238E27FC236}">
                    <a16:creationId xmlns:a16="http://schemas.microsoft.com/office/drawing/2014/main" id="{C86EF960-6D51-9102-8694-30CF9CFE2CF2}"/>
                  </a:ext>
                </a:extLst>
              </p14:cNvPr>
              <p14:cNvContentPartPr/>
              <p14:nvPr/>
            </p14:nvContentPartPr>
            <p14:xfrm>
              <a:off x="2752462" y="6431804"/>
              <a:ext cx="1045800" cy="81000"/>
            </p14:xfrm>
          </p:contentPart>
        </mc:Choice>
        <mc:Fallback xmlns="">
          <p:pic>
            <p:nvPicPr>
              <p:cNvPr id="29" name="Ink 28">
                <a:extLst>
                  <a:ext uri="{FF2B5EF4-FFF2-40B4-BE49-F238E27FC236}">
                    <a16:creationId xmlns:a16="http://schemas.microsoft.com/office/drawing/2014/main" id="{C86EF960-6D51-9102-8694-30CF9CFE2CF2}"/>
                  </a:ext>
                </a:extLst>
              </p:cNvPr>
              <p:cNvPicPr/>
              <p:nvPr/>
            </p:nvPicPr>
            <p:blipFill>
              <a:blip r:embed="rId5"/>
              <a:stretch>
                <a:fillRect/>
              </a:stretch>
            </p:blipFill>
            <p:spPr>
              <a:xfrm>
                <a:off x="2689462" y="6368804"/>
                <a:ext cx="1171440" cy="206640"/>
              </a:xfrm>
              <a:prstGeom prst="rect">
                <a:avLst/>
              </a:prstGeom>
            </p:spPr>
          </p:pic>
        </mc:Fallback>
      </mc:AlternateContent>
    </p:spTree>
    <p:extLst>
      <p:ext uri="{BB962C8B-B14F-4D97-AF65-F5344CB8AC3E}">
        <p14:creationId xmlns:p14="http://schemas.microsoft.com/office/powerpoint/2010/main" val="1879367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77281-48D7-7F6F-1DA8-663ACB001ABB}"/>
              </a:ext>
            </a:extLst>
          </p:cNvPr>
          <p:cNvSpPr>
            <a:spLocks noGrp="1"/>
          </p:cNvSpPr>
          <p:nvPr>
            <p:ph type="title"/>
          </p:nvPr>
        </p:nvSpPr>
        <p:spPr>
          <a:xfrm>
            <a:off x="2336801" y="624110"/>
            <a:ext cx="9167812" cy="1280890"/>
          </a:xfrm>
        </p:spPr>
        <p:txBody>
          <a:bodyPr/>
          <a:lstStyle/>
          <a:p>
            <a:r>
              <a:rPr lang="en-US" dirty="0"/>
              <a:t>Computation Biology for Protein Analysis</a:t>
            </a:r>
          </a:p>
        </p:txBody>
      </p:sp>
      <p:sp>
        <p:nvSpPr>
          <p:cNvPr id="3" name="Content Placeholder 2">
            <a:extLst>
              <a:ext uri="{FF2B5EF4-FFF2-40B4-BE49-F238E27FC236}">
                <a16:creationId xmlns:a16="http://schemas.microsoft.com/office/drawing/2014/main" id="{93F0AE76-44BC-814C-12BA-37AE4AFE2735}"/>
              </a:ext>
            </a:extLst>
          </p:cNvPr>
          <p:cNvSpPr>
            <a:spLocks noGrp="1"/>
          </p:cNvSpPr>
          <p:nvPr>
            <p:ph idx="1"/>
          </p:nvPr>
        </p:nvSpPr>
        <p:spPr>
          <a:xfrm>
            <a:off x="2336801" y="1388534"/>
            <a:ext cx="9167812" cy="5260621"/>
          </a:xfrm>
        </p:spPr>
        <p:txBody>
          <a:bodyPr>
            <a:normAutofit fontScale="92500"/>
          </a:bodyPr>
          <a:lstStyle/>
          <a:p>
            <a:pPr marL="0" indent="0">
              <a:buNone/>
            </a:pPr>
            <a:r>
              <a:rPr lang="en-US" dirty="0"/>
              <a:t>So what exactly is the role of computational biology in Protein Analysis???</a:t>
            </a:r>
          </a:p>
          <a:p>
            <a:pPr algn="l"/>
            <a:r>
              <a:rPr lang="en-IN" b="1" i="0" u="none" strike="noStrike" dirty="0">
                <a:solidFill>
                  <a:srgbClr val="000000"/>
                </a:solidFill>
                <a:effectLst/>
              </a:rPr>
              <a:t>Structural Prediction</a:t>
            </a:r>
            <a:r>
              <a:rPr lang="en-IN" b="0" i="0" u="none" strike="noStrike" dirty="0">
                <a:solidFill>
                  <a:srgbClr val="000000"/>
                </a:solidFill>
                <a:effectLst/>
              </a:rPr>
              <a:t>:</a:t>
            </a:r>
          </a:p>
          <a:p>
            <a:pPr marL="0" indent="0">
              <a:buNone/>
            </a:pPr>
            <a:r>
              <a:rPr lang="en-IN" dirty="0"/>
              <a:t>It enables the prediction of protein structures from amino acid sequences, providing insights into protein function and interactions.</a:t>
            </a:r>
          </a:p>
          <a:p>
            <a:pPr algn="l"/>
            <a:r>
              <a:rPr lang="en-IN" b="1" i="0" u="none" strike="noStrike" dirty="0">
                <a:solidFill>
                  <a:srgbClr val="000000"/>
                </a:solidFill>
                <a:effectLst/>
              </a:rPr>
              <a:t>Molecular Dynamics Simulations</a:t>
            </a:r>
            <a:r>
              <a:rPr lang="en-IN" b="0" i="0" u="none" strike="noStrike" dirty="0">
                <a:solidFill>
                  <a:srgbClr val="000000"/>
                </a:solidFill>
                <a:effectLst/>
              </a:rPr>
              <a:t>:</a:t>
            </a:r>
          </a:p>
          <a:p>
            <a:pPr marL="0" indent="0" algn="l">
              <a:buNone/>
            </a:pPr>
            <a:r>
              <a:rPr lang="en-IN" b="0" i="0" u="none" strike="noStrike" dirty="0">
                <a:solidFill>
                  <a:srgbClr val="000000"/>
                </a:solidFill>
                <a:effectLst/>
              </a:rPr>
              <a:t>Simulations help in understanding the dynamic </a:t>
            </a:r>
            <a:r>
              <a:rPr lang="en-IN" b="0" i="0" u="none" strike="noStrike" dirty="0" err="1">
                <a:solidFill>
                  <a:srgbClr val="000000"/>
                </a:solidFill>
                <a:effectLst/>
              </a:rPr>
              <a:t>behavior</a:t>
            </a:r>
            <a:r>
              <a:rPr lang="en-IN" b="0" i="0" u="none" strike="noStrike" dirty="0">
                <a:solidFill>
                  <a:srgbClr val="000000"/>
                </a:solidFill>
                <a:effectLst/>
              </a:rPr>
              <a:t> of proteins, including conformational changes, folding processes, and interactions with other molecules.</a:t>
            </a:r>
          </a:p>
          <a:p>
            <a:pPr algn="l"/>
            <a:r>
              <a:rPr lang="en-IN" b="1" i="0" u="none" strike="noStrike" dirty="0">
                <a:solidFill>
                  <a:srgbClr val="000000"/>
                </a:solidFill>
                <a:effectLst/>
              </a:rPr>
              <a:t>Interaction Mapping between other biomolecules</a:t>
            </a:r>
            <a:r>
              <a:rPr lang="en-IN" b="0" i="0" u="none" strike="noStrike" dirty="0">
                <a:solidFill>
                  <a:srgbClr val="000000"/>
                </a:solidFill>
                <a:effectLst/>
              </a:rPr>
              <a:t>:</a:t>
            </a:r>
          </a:p>
          <a:p>
            <a:pPr marL="0" indent="0">
              <a:buNone/>
            </a:pPr>
            <a:r>
              <a:rPr lang="en-IN" b="0" i="0" u="none" strike="noStrike" dirty="0">
                <a:solidFill>
                  <a:srgbClr val="000000"/>
                </a:solidFill>
                <a:effectLst/>
              </a:rPr>
              <a:t>Computational tools enable the mapping of protein-protein and protein-ligand interactions, which is crucial for understanding cellular pathways and mechanisms. This i</a:t>
            </a:r>
            <a:r>
              <a:rPr lang="en-IN" dirty="0">
                <a:solidFill>
                  <a:srgbClr val="000000"/>
                </a:solidFill>
              </a:rPr>
              <a:t>ncludes docking.</a:t>
            </a:r>
            <a:endParaRPr lang="en-IN" b="0" i="0" u="none" strike="noStrike" dirty="0">
              <a:solidFill>
                <a:srgbClr val="000000"/>
              </a:solidFill>
              <a:effectLst/>
            </a:endParaRPr>
          </a:p>
          <a:p>
            <a:pPr algn="l"/>
            <a:r>
              <a:rPr lang="en-IN" b="1" i="0" u="none" strike="noStrike" dirty="0">
                <a:solidFill>
                  <a:srgbClr val="000000"/>
                </a:solidFill>
                <a:effectLst/>
              </a:rPr>
              <a:t>High-Throughput Analysis</a:t>
            </a:r>
            <a:r>
              <a:rPr lang="en-IN" b="0" i="0" u="none" strike="noStrike" dirty="0">
                <a:solidFill>
                  <a:srgbClr val="000000"/>
                </a:solidFill>
                <a:effectLst/>
              </a:rPr>
              <a:t>:</a:t>
            </a:r>
          </a:p>
          <a:p>
            <a:pPr marL="0" indent="0" algn="l">
              <a:buNone/>
            </a:pPr>
            <a:r>
              <a:rPr lang="en-IN" b="0" i="0" u="none" strike="noStrike" dirty="0">
                <a:solidFill>
                  <a:srgbClr val="000000"/>
                </a:solidFill>
                <a:effectLst/>
              </a:rPr>
              <a:t>Computational biology allows for the rapid analysis of large datasets, such as those generated by high-throughput sequencing, to identify and visualize potential protein structures and functions.</a:t>
            </a:r>
            <a:br>
              <a:rPr lang="en-IN" dirty="0"/>
            </a:br>
            <a:endParaRPr lang="en-US" dirty="0"/>
          </a:p>
          <a:p>
            <a:endParaRPr lang="en-US" dirty="0"/>
          </a:p>
        </p:txBody>
      </p:sp>
    </p:spTree>
    <p:extLst>
      <p:ext uri="{BB962C8B-B14F-4D97-AF65-F5344CB8AC3E}">
        <p14:creationId xmlns:p14="http://schemas.microsoft.com/office/powerpoint/2010/main" val="2902417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07D6F-AF30-9DF9-67B2-07125C86B649}"/>
              </a:ext>
            </a:extLst>
          </p:cNvPr>
          <p:cNvSpPr>
            <a:spLocks noGrp="1"/>
          </p:cNvSpPr>
          <p:nvPr>
            <p:ph type="title"/>
          </p:nvPr>
        </p:nvSpPr>
        <p:spPr/>
        <p:txBody>
          <a:bodyPr/>
          <a:lstStyle/>
          <a:p>
            <a:r>
              <a:rPr lang="en-US" dirty="0" err="1"/>
              <a:t>Softwares</a:t>
            </a:r>
            <a:r>
              <a:rPr lang="en-US" dirty="0"/>
              <a:t> used for Protein Analysis</a:t>
            </a:r>
          </a:p>
        </p:txBody>
      </p:sp>
      <p:sp>
        <p:nvSpPr>
          <p:cNvPr id="3" name="Content Placeholder 2">
            <a:extLst>
              <a:ext uri="{FF2B5EF4-FFF2-40B4-BE49-F238E27FC236}">
                <a16:creationId xmlns:a16="http://schemas.microsoft.com/office/drawing/2014/main" id="{7C014455-68B1-661D-DCEA-87065CA38ACA}"/>
              </a:ext>
            </a:extLst>
          </p:cNvPr>
          <p:cNvSpPr>
            <a:spLocks noGrp="1"/>
          </p:cNvSpPr>
          <p:nvPr>
            <p:ph idx="1"/>
          </p:nvPr>
        </p:nvSpPr>
        <p:spPr/>
        <p:txBody>
          <a:bodyPr/>
          <a:lstStyle/>
          <a:p>
            <a:r>
              <a:rPr lang="en-US" dirty="0"/>
              <a:t>PYMOL </a:t>
            </a:r>
          </a:p>
          <a:p>
            <a:pPr marL="0" indent="0">
              <a:buNone/>
            </a:pPr>
            <a:r>
              <a:rPr lang="en-US" dirty="0"/>
              <a:t>We will be using </a:t>
            </a:r>
            <a:r>
              <a:rPr lang="en-US" dirty="0" err="1"/>
              <a:t>PyMOL</a:t>
            </a:r>
            <a:r>
              <a:rPr lang="en-US" dirty="0"/>
              <a:t> today. </a:t>
            </a:r>
          </a:p>
          <a:p>
            <a:r>
              <a:rPr lang="en-US" dirty="0"/>
              <a:t>UCSF CHIMERA</a:t>
            </a:r>
          </a:p>
          <a:p>
            <a:pPr marL="0" indent="0">
              <a:buNone/>
            </a:pPr>
            <a:r>
              <a:rPr lang="en-US" dirty="0"/>
              <a:t>Yet another and commonly used Protein Structure </a:t>
            </a:r>
            <a:r>
              <a:rPr lang="en-US" dirty="0" err="1"/>
              <a:t>Visualiser</a:t>
            </a:r>
            <a:endParaRPr lang="en-US" dirty="0"/>
          </a:p>
          <a:p>
            <a:r>
              <a:rPr lang="en-US" dirty="0" err="1"/>
              <a:t>RasMOL</a:t>
            </a:r>
            <a:endParaRPr lang="en-US" dirty="0"/>
          </a:p>
          <a:p>
            <a:r>
              <a:rPr lang="en-US" dirty="0"/>
              <a:t>APBS Web server</a:t>
            </a:r>
          </a:p>
          <a:p>
            <a:pPr marL="0" indent="0">
              <a:buNone/>
            </a:pPr>
            <a:r>
              <a:rPr lang="en-US" dirty="0"/>
              <a:t>For performing electrostatic calculations and visualizing them too</a:t>
            </a:r>
          </a:p>
          <a:p>
            <a:r>
              <a:rPr lang="en-US" dirty="0"/>
              <a:t>Etc.</a:t>
            </a:r>
          </a:p>
        </p:txBody>
      </p:sp>
      <p:pic>
        <p:nvPicPr>
          <p:cNvPr id="4" name="Picture 3">
            <a:extLst>
              <a:ext uri="{FF2B5EF4-FFF2-40B4-BE49-F238E27FC236}">
                <a16:creationId xmlns:a16="http://schemas.microsoft.com/office/drawing/2014/main" id="{C6D5534C-EDFE-13FB-3533-B3CCF54417DF}"/>
              </a:ext>
            </a:extLst>
          </p:cNvPr>
          <p:cNvPicPr>
            <a:picLocks noChangeAspect="1"/>
          </p:cNvPicPr>
          <p:nvPr/>
        </p:nvPicPr>
        <p:blipFill>
          <a:blip r:embed="rId2"/>
          <a:stretch>
            <a:fillRect/>
          </a:stretch>
        </p:blipFill>
        <p:spPr>
          <a:xfrm>
            <a:off x="7157156" y="1690512"/>
            <a:ext cx="1422400" cy="1422400"/>
          </a:xfrm>
          <a:prstGeom prst="rect">
            <a:avLst/>
          </a:prstGeom>
        </p:spPr>
      </p:pic>
    </p:spTree>
    <p:extLst>
      <p:ext uri="{BB962C8B-B14F-4D97-AF65-F5344CB8AC3E}">
        <p14:creationId xmlns:p14="http://schemas.microsoft.com/office/powerpoint/2010/main" val="3927708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373D3-61BC-D5DD-F6FA-F9E6E60C407F}"/>
              </a:ext>
            </a:extLst>
          </p:cNvPr>
          <p:cNvSpPr>
            <a:spLocks noGrp="1"/>
          </p:cNvSpPr>
          <p:nvPr>
            <p:ph type="title"/>
          </p:nvPr>
        </p:nvSpPr>
        <p:spPr/>
        <p:txBody>
          <a:bodyPr>
            <a:normAutofit fontScale="90000"/>
          </a:bodyPr>
          <a:lstStyle/>
          <a:p>
            <a:r>
              <a:rPr lang="en-US" dirty="0"/>
              <a:t>Let’s Discuss Various Files commonly used</a:t>
            </a:r>
            <a:br>
              <a:rPr lang="en-US" dirty="0"/>
            </a:br>
            <a:br>
              <a:rPr lang="en-US" dirty="0"/>
            </a:br>
            <a:r>
              <a:rPr lang="en-US" dirty="0"/>
              <a:t>1. PDB(Protein Data Bank)</a:t>
            </a:r>
          </a:p>
        </p:txBody>
      </p:sp>
      <p:sp>
        <p:nvSpPr>
          <p:cNvPr id="3" name="Content Placeholder 2">
            <a:extLst>
              <a:ext uri="{FF2B5EF4-FFF2-40B4-BE49-F238E27FC236}">
                <a16:creationId xmlns:a16="http://schemas.microsoft.com/office/drawing/2014/main" id="{D2AECC6A-B9E7-FD91-63CD-968AE6E9AC77}"/>
              </a:ext>
            </a:extLst>
          </p:cNvPr>
          <p:cNvSpPr>
            <a:spLocks noGrp="1"/>
          </p:cNvSpPr>
          <p:nvPr>
            <p:ph idx="1"/>
          </p:nvPr>
        </p:nvSpPr>
        <p:spPr>
          <a:xfrm>
            <a:off x="2589212" y="2257778"/>
            <a:ext cx="8915400" cy="4267200"/>
          </a:xfrm>
        </p:spPr>
        <p:txBody>
          <a:bodyPr>
            <a:normAutofit/>
          </a:bodyPr>
          <a:lstStyle/>
          <a:p>
            <a:r>
              <a:rPr lang="en-US" dirty="0"/>
              <a:t>PDB files are the most important files used for getting raw data for various proteins. It contains subsections containing different types of data which can be utilized for various operations –</a:t>
            </a:r>
          </a:p>
          <a:p>
            <a:pPr>
              <a:buAutoNum type="arabicPeriod"/>
            </a:pPr>
            <a:r>
              <a:rPr lang="en-US" b="1" dirty="0"/>
              <a:t>HEADER </a:t>
            </a:r>
            <a:endParaRPr lang="en-US" dirty="0"/>
          </a:p>
          <a:p>
            <a:r>
              <a:rPr lang="en-IN" b="0" i="0" u="none" strike="noStrike" dirty="0">
                <a:solidFill>
                  <a:srgbClr val="000000"/>
                </a:solidFill>
                <a:effectLst/>
                <a:latin typeface="-webkit-standard"/>
              </a:rPr>
              <a:t>It contains </a:t>
            </a:r>
            <a:r>
              <a:rPr lang="en-IN" b="1" i="0" u="none" strike="noStrike" dirty="0">
                <a:solidFill>
                  <a:srgbClr val="000000"/>
                </a:solidFill>
                <a:effectLst/>
                <a:latin typeface="-webkit-standard"/>
              </a:rPr>
              <a:t>metadata</a:t>
            </a:r>
            <a:r>
              <a:rPr lang="en-IN" b="0" i="0" u="none" strike="noStrike" dirty="0">
                <a:solidFill>
                  <a:srgbClr val="000000"/>
                </a:solidFill>
                <a:effectLst/>
                <a:latin typeface="-webkit-standard"/>
              </a:rPr>
              <a:t> about the PDB file, including the date of deposition, the molecule's name, and the source of the molecule. It often includes information about the experiment used to determine the structure, such as X-ray crystallography or NMR spectroscopy.</a:t>
            </a:r>
            <a:endParaRPr lang="en-US" dirty="0"/>
          </a:p>
          <a:p>
            <a:pPr marL="0" indent="0">
              <a:buNone/>
            </a:pPr>
            <a:r>
              <a:rPr lang="en-US" b="1" dirty="0"/>
              <a:t>2. COMPOUND, HELIX’s RECORDS</a:t>
            </a:r>
          </a:p>
          <a:p>
            <a:r>
              <a:rPr lang="en-IN" b="0" i="0" u="none" strike="noStrike" dirty="0">
                <a:solidFill>
                  <a:srgbClr val="000000"/>
                </a:solidFill>
                <a:effectLst/>
                <a:latin typeface="-webkit-standard"/>
              </a:rPr>
              <a:t>This section provides the title of the experiment and detailed information about the molecules in the structure. The "COMPND" records specify the name of the molecule, chain identifiers, enzyme classification (EC) numbers, and other relevant details. </a:t>
            </a:r>
            <a:r>
              <a:rPr lang="en-IN" dirty="0">
                <a:solidFill>
                  <a:srgbClr val="000000"/>
                </a:solidFill>
                <a:latin typeface="-webkit-standard"/>
              </a:rPr>
              <a:t>Relevant information related to “HELIX” and other secondary structures are also present.</a:t>
            </a:r>
            <a:endParaRPr lang="en-US" dirty="0"/>
          </a:p>
          <a:p>
            <a:endParaRPr lang="en-US" dirty="0"/>
          </a:p>
        </p:txBody>
      </p:sp>
    </p:spTree>
    <p:extLst>
      <p:ext uri="{BB962C8B-B14F-4D97-AF65-F5344CB8AC3E}">
        <p14:creationId xmlns:p14="http://schemas.microsoft.com/office/powerpoint/2010/main" val="631466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FD77D5-0FAE-4940-513E-8D7756F60996}"/>
              </a:ext>
            </a:extLst>
          </p:cNvPr>
          <p:cNvSpPr>
            <a:spLocks noGrp="1"/>
          </p:cNvSpPr>
          <p:nvPr>
            <p:ph idx="1"/>
          </p:nvPr>
        </p:nvSpPr>
        <p:spPr>
          <a:xfrm>
            <a:off x="2465035" y="750712"/>
            <a:ext cx="8915400" cy="6107288"/>
          </a:xfrm>
        </p:spPr>
        <p:txBody>
          <a:bodyPr>
            <a:normAutofit/>
          </a:bodyPr>
          <a:lstStyle/>
          <a:p>
            <a:pPr marL="0" indent="0">
              <a:buNone/>
            </a:pPr>
            <a:r>
              <a:rPr lang="en-US" b="1" dirty="0"/>
              <a:t>3. HETATM RECORDS </a:t>
            </a:r>
          </a:p>
          <a:p>
            <a:r>
              <a:rPr lang="en-IN" b="0" i="0" u="none" strike="noStrike" dirty="0">
                <a:solidFill>
                  <a:srgbClr val="000000"/>
                </a:solidFill>
                <a:effectLst/>
                <a:latin typeface="-webkit-standard"/>
              </a:rPr>
              <a:t>HETATM records describe heteroatoms, which are </a:t>
            </a:r>
            <a:r>
              <a:rPr lang="en-IN" b="1" i="0" u="none" strike="noStrike" dirty="0">
                <a:solidFill>
                  <a:srgbClr val="000000"/>
                </a:solidFill>
                <a:effectLst/>
                <a:latin typeface="-webkit-standard"/>
              </a:rPr>
              <a:t>atoms not part of the standard amino acids or nucleotides</a:t>
            </a:r>
            <a:r>
              <a:rPr lang="en-IN" b="0" i="0" u="none" strike="noStrike" dirty="0">
                <a:solidFill>
                  <a:srgbClr val="000000"/>
                </a:solidFill>
                <a:effectLst/>
                <a:latin typeface="-webkit-standard"/>
              </a:rPr>
              <a:t>. These might include </a:t>
            </a:r>
            <a:r>
              <a:rPr lang="en-IN" b="1" i="0" u="none" strike="noStrike" dirty="0">
                <a:solidFill>
                  <a:srgbClr val="000000"/>
                </a:solidFill>
                <a:effectLst/>
                <a:latin typeface="-webkit-standard"/>
              </a:rPr>
              <a:t>metal ions, water molecules, ligands</a:t>
            </a:r>
            <a:r>
              <a:rPr lang="en-IN" b="0" i="0" u="none" strike="noStrike" dirty="0">
                <a:solidFill>
                  <a:srgbClr val="000000"/>
                </a:solidFill>
                <a:effectLst/>
                <a:latin typeface="-webkit-standard"/>
              </a:rPr>
              <a:t>, or other small molecules. Each HETATM record specifies the atom's position in 3D space, the residue it belongs to, and its occupancy and temperature factor.</a:t>
            </a:r>
            <a:endParaRPr lang="en-US" b="0" i="0" u="none" strike="noStrike" dirty="0">
              <a:solidFill>
                <a:srgbClr val="000000"/>
              </a:solidFill>
              <a:effectLst/>
              <a:latin typeface="-webkit-standard"/>
            </a:endParaRPr>
          </a:p>
          <a:p>
            <a:pPr marL="0" indent="0">
              <a:buNone/>
            </a:pPr>
            <a:r>
              <a:rPr lang="en-US" b="1" dirty="0">
                <a:solidFill>
                  <a:srgbClr val="000000"/>
                </a:solidFill>
                <a:latin typeface="-webkit-standard"/>
              </a:rPr>
              <a:t>4. ATOM RECORDS </a:t>
            </a:r>
            <a:endParaRPr lang="en-US" b="1" dirty="0"/>
          </a:p>
          <a:p>
            <a:r>
              <a:rPr lang="en-IN" b="0" i="0" u="none" strike="noStrike" dirty="0">
                <a:solidFill>
                  <a:srgbClr val="000000"/>
                </a:solidFill>
                <a:effectLst/>
                <a:latin typeface="-webkit-standard"/>
              </a:rPr>
              <a:t>ATOM records provide the atomic coordinates for all atoms in the standard residues (amino acids for proteins, nucleotides for DNA/RNA). Each record includes information about the </a:t>
            </a:r>
            <a:r>
              <a:rPr lang="en-IN" b="1" i="0" u="none" strike="noStrike" dirty="0">
                <a:solidFill>
                  <a:srgbClr val="000000"/>
                </a:solidFill>
                <a:effectLst/>
                <a:latin typeface="-webkit-standard"/>
              </a:rPr>
              <a:t>atom type</a:t>
            </a:r>
            <a:r>
              <a:rPr lang="en-IN" b="0" i="0" u="none" strike="noStrike" dirty="0">
                <a:solidFill>
                  <a:srgbClr val="000000"/>
                </a:solidFill>
                <a:effectLst/>
                <a:latin typeface="-webkit-standard"/>
              </a:rPr>
              <a:t>, </a:t>
            </a:r>
            <a:r>
              <a:rPr lang="en-IN" b="1" i="0" u="none" strike="noStrike" dirty="0">
                <a:solidFill>
                  <a:srgbClr val="000000"/>
                </a:solidFill>
                <a:effectLst/>
                <a:latin typeface="-webkit-standard"/>
              </a:rPr>
              <a:t>residue name, chain identifier, residue sequence number, and the x, y, z coordinates of the atom</a:t>
            </a:r>
            <a:r>
              <a:rPr lang="en-IN" b="0" i="0" u="none" strike="noStrike" dirty="0">
                <a:solidFill>
                  <a:srgbClr val="000000"/>
                </a:solidFill>
                <a:effectLst/>
                <a:latin typeface="-webkit-standard"/>
              </a:rPr>
              <a:t>. It also includes the </a:t>
            </a:r>
            <a:r>
              <a:rPr lang="en-IN" b="1" i="0" u="none" strike="noStrike" dirty="0">
                <a:solidFill>
                  <a:srgbClr val="000000"/>
                </a:solidFill>
                <a:effectLst/>
                <a:latin typeface="-webkit-standard"/>
              </a:rPr>
              <a:t>occupancy</a:t>
            </a:r>
            <a:r>
              <a:rPr lang="en-IN" b="0" i="0" u="none" strike="noStrike" dirty="0">
                <a:solidFill>
                  <a:srgbClr val="000000"/>
                </a:solidFill>
                <a:effectLst/>
                <a:latin typeface="-webkit-standard"/>
              </a:rPr>
              <a:t> (which indicates the fraction of molecules in the crystal that contain the atom at the given position) and the </a:t>
            </a:r>
            <a:r>
              <a:rPr lang="en-IN" b="1" i="0" u="none" strike="noStrike" dirty="0">
                <a:solidFill>
                  <a:srgbClr val="000000"/>
                </a:solidFill>
                <a:effectLst/>
                <a:latin typeface="-webkit-standard"/>
              </a:rPr>
              <a:t>temperature factor</a:t>
            </a:r>
            <a:r>
              <a:rPr lang="en-IN" b="0" i="0" u="none" strike="noStrike" dirty="0">
                <a:solidFill>
                  <a:srgbClr val="000000"/>
                </a:solidFill>
                <a:effectLst/>
                <a:latin typeface="-webkit-standard"/>
              </a:rPr>
              <a:t> (which indicates the mobility of the atom).</a:t>
            </a:r>
          </a:p>
          <a:p>
            <a:pPr marL="0" indent="0">
              <a:buNone/>
            </a:pPr>
            <a:r>
              <a:rPr lang="en-IN" b="1" i="0" u="none" strike="noStrike" dirty="0">
                <a:solidFill>
                  <a:srgbClr val="000000"/>
                </a:solidFill>
                <a:effectLst/>
                <a:latin typeface="-webkit-standard"/>
              </a:rPr>
              <a:t>5. </a:t>
            </a:r>
            <a:r>
              <a:rPr lang="en-IN" b="1" i="0" u="none" strike="noStrike" dirty="0">
                <a:solidFill>
                  <a:srgbClr val="000000"/>
                </a:solidFill>
                <a:effectLst/>
              </a:rPr>
              <a:t>Connectivity Records</a:t>
            </a:r>
            <a:r>
              <a:rPr lang="en-IN" b="0" i="0" u="none" strike="noStrike" dirty="0">
                <a:solidFill>
                  <a:srgbClr val="000000"/>
                </a:solidFill>
                <a:effectLst/>
                <a:latin typeface="-webkit-standard"/>
              </a:rPr>
              <a:t>:</a:t>
            </a:r>
            <a:endParaRPr lang="en-US" dirty="0"/>
          </a:p>
          <a:p>
            <a:r>
              <a:rPr lang="en-IN" b="0" i="0" u="none" strike="noStrike" dirty="0">
                <a:solidFill>
                  <a:srgbClr val="000000"/>
                </a:solidFill>
                <a:effectLst/>
                <a:latin typeface="-webkit-standard"/>
              </a:rPr>
              <a:t>The connectivity section includes records such as CONECT, which describes </a:t>
            </a:r>
            <a:r>
              <a:rPr lang="en-IN" b="1" i="0" u="none" strike="noStrike" dirty="0">
                <a:solidFill>
                  <a:srgbClr val="000000"/>
                </a:solidFill>
                <a:effectLst/>
                <a:latin typeface="-webkit-standard"/>
              </a:rPr>
              <a:t>the bonding between atoms in the structure</a:t>
            </a:r>
            <a:r>
              <a:rPr lang="en-IN" b="0" i="0" u="none" strike="noStrike" dirty="0">
                <a:solidFill>
                  <a:srgbClr val="000000"/>
                </a:solidFill>
                <a:effectLst/>
                <a:latin typeface="-webkit-standard"/>
              </a:rPr>
              <a:t>, particularly important for non-standard residues and ligands. This section helps in understanding </a:t>
            </a:r>
            <a:r>
              <a:rPr lang="en-IN" b="1" i="0" u="none" strike="noStrike" dirty="0">
                <a:solidFill>
                  <a:srgbClr val="000000"/>
                </a:solidFill>
                <a:effectLst/>
                <a:latin typeface="-webkit-standard"/>
              </a:rPr>
              <a:t>the molecular interactions </a:t>
            </a:r>
            <a:r>
              <a:rPr lang="en-IN" b="0" i="0" u="none" strike="noStrike" dirty="0">
                <a:solidFill>
                  <a:srgbClr val="000000"/>
                </a:solidFill>
                <a:effectLst/>
                <a:latin typeface="-webkit-standard"/>
              </a:rPr>
              <a:t>and the </a:t>
            </a:r>
            <a:r>
              <a:rPr lang="en-IN" b="1" i="0" u="none" strike="noStrike" dirty="0">
                <a:solidFill>
                  <a:srgbClr val="000000"/>
                </a:solidFill>
                <a:effectLst/>
                <a:latin typeface="-webkit-standard"/>
              </a:rPr>
              <a:t>chemical environment</a:t>
            </a:r>
            <a:r>
              <a:rPr lang="en-IN" b="0" i="0" u="none" strike="noStrike" dirty="0">
                <a:solidFill>
                  <a:srgbClr val="000000"/>
                </a:solidFill>
                <a:effectLst/>
                <a:latin typeface="-webkit-standard"/>
              </a:rPr>
              <a:t> within the structure. </a:t>
            </a:r>
            <a:endParaRPr lang="en-US" dirty="0"/>
          </a:p>
        </p:txBody>
      </p:sp>
    </p:spTree>
    <p:extLst>
      <p:ext uri="{BB962C8B-B14F-4D97-AF65-F5344CB8AC3E}">
        <p14:creationId xmlns:p14="http://schemas.microsoft.com/office/powerpoint/2010/main" val="3252559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0D119-3B01-043A-DA6A-50DDB713A494}"/>
              </a:ext>
            </a:extLst>
          </p:cNvPr>
          <p:cNvSpPr>
            <a:spLocks noGrp="1"/>
          </p:cNvSpPr>
          <p:nvPr>
            <p:ph type="title"/>
          </p:nvPr>
        </p:nvSpPr>
        <p:spPr/>
        <p:txBody>
          <a:bodyPr/>
          <a:lstStyle/>
          <a:p>
            <a:r>
              <a:rPr lang="en-US" dirty="0"/>
              <a:t>2. PQR File</a:t>
            </a:r>
            <a:br>
              <a:rPr lang="en-US" dirty="0"/>
            </a:br>
            <a:r>
              <a:rPr lang="en-US" dirty="0"/>
              <a:t>P – Position Q- Charge R- Radius</a:t>
            </a:r>
          </a:p>
        </p:txBody>
      </p:sp>
      <p:sp>
        <p:nvSpPr>
          <p:cNvPr id="3" name="Content Placeholder 2">
            <a:extLst>
              <a:ext uri="{FF2B5EF4-FFF2-40B4-BE49-F238E27FC236}">
                <a16:creationId xmlns:a16="http://schemas.microsoft.com/office/drawing/2014/main" id="{E4B63ED0-C429-DB6D-8D72-2D52A4DDB415}"/>
              </a:ext>
            </a:extLst>
          </p:cNvPr>
          <p:cNvSpPr>
            <a:spLocks noGrp="1"/>
          </p:cNvSpPr>
          <p:nvPr>
            <p:ph idx="1"/>
          </p:nvPr>
        </p:nvSpPr>
        <p:spPr/>
        <p:txBody>
          <a:bodyPr>
            <a:normAutofit fontScale="92500" lnSpcReduction="10000"/>
          </a:bodyPr>
          <a:lstStyle/>
          <a:p>
            <a:r>
              <a:rPr lang="en-US" sz="2400" dirty="0"/>
              <a:t>This type of file is very important in terms of using for calculations and </a:t>
            </a:r>
            <a:r>
              <a:rPr lang="en-US" sz="2400" dirty="0" err="1"/>
              <a:t>visualisations</a:t>
            </a:r>
            <a:r>
              <a:rPr lang="en-US" sz="2400" dirty="0"/>
              <a:t>.</a:t>
            </a:r>
          </a:p>
          <a:p>
            <a:r>
              <a:rPr lang="en-US" sz="2400" dirty="0"/>
              <a:t>Many web servers and </a:t>
            </a:r>
            <a:r>
              <a:rPr lang="en-US" sz="2400" dirty="0" err="1"/>
              <a:t>softwares</a:t>
            </a:r>
            <a:r>
              <a:rPr lang="en-US" sz="2400" dirty="0"/>
              <a:t> prefer PQR Files for faster results</a:t>
            </a:r>
          </a:p>
          <a:p>
            <a:r>
              <a:rPr lang="en-US" sz="2400" dirty="0"/>
              <a:t>Does NOT usually contain METADATA (you can put if you want)</a:t>
            </a:r>
          </a:p>
          <a:p>
            <a:r>
              <a:rPr lang="en-US" sz="2400" dirty="0"/>
              <a:t>It contains information readily usable similar to section 4 of PDB.</a:t>
            </a:r>
          </a:p>
          <a:p>
            <a:r>
              <a:rPr lang="en-US" sz="2400" dirty="0"/>
              <a:t>P gives x y z coordinates, Q gives the charge at each atom and R gives the radius of each atom</a:t>
            </a:r>
          </a:p>
          <a:p>
            <a:pPr marL="0" indent="0">
              <a:buNone/>
            </a:pPr>
            <a:endParaRPr lang="en-US" dirty="0"/>
          </a:p>
          <a:p>
            <a:endParaRPr lang="en-US" dirty="0"/>
          </a:p>
        </p:txBody>
      </p:sp>
    </p:spTree>
    <p:extLst>
      <p:ext uri="{BB962C8B-B14F-4D97-AF65-F5344CB8AC3E}">
        <p14:creationId xmlns:p14="http://schemas.microsoft.com/office/powerpoint/2010/main" val="1163649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436EB-93B5-EBEB-0D9A-E5D53DD730BF}"/>
              </a:ext>
            </a:extLst>
          </p:cNvPr>
          <p:cNvSpPr>
            <a:spLocks noGrp="1"/>
          </p:cNvSpPr>
          <p:nvPr>
            <p:ph type="title"/>
          </p:nvPr>
        </p:nvSpPr>
        <p:spPr/>
        <p:txBody>
          <a:bodyPr/>
          <a:lstStyle/>
          <a:p>
            <a:r>
              <a:rPr lang="en-US" dirty="0"/>
              <a:t>3. XYZ Format</a:t>
            </a:r>
          </a:p>
        </p:txBody>
      </p:sp>
      <p:sp>
        <p:nvSpPr>
          <p:cNvPr id="3" name="Content Placeholder 2">
            <a:extLst>
              <a:ext uri="{FF2B5EF4-FFF2-40B4-BE49-F238E27FC236}">
                <a16:creationId xmlns:a16="http://schemas.microsoft.com/office/drawing/2014/main" id="{70085871-6976-D18F-5583-63A165D8D828}"/>
              </a:ext>
            </a:extLst>
          </p:cNvPr>
          <p:cNvSpPr>
            <a:spLocks noGrp="1"/>
          </p:cNvSpPr>
          <p:nvPr>
            <p:ph idx="1"/>
          </p:nvPr>
        </p:nvSpPr>
        <p:spPr/>
        <p:txBody>
          <a:bodyPr/>
          <a:lstStyle/>
          <a:p>
            <a:r>
              <a:rPr lang="en-US" sz="2400" dirty="0"/>
              <a:t>Very straight forward, it gives you the atom name, x y z coordinates with respect to origin.</a:t>
            </a:r>
          </a:p>
          <a:p>
            <a:endParaRPr lang="en-US" dirty="0"/>
          </a:p>
          <a:p>
            <a:endParaRPr lang="en-US" dirty="0"/>
          </a:p>
          <a:p>
            <a:endParaRPr lang="en-US" dirty="0"/>
          </a:p>
          <a:p>
            <a:r>
              <a:rPr lang="en-US" sz="2400" dirty="0"/>
              <a:t>This file is obtained when you use </a:t>
            </a:r>
            <a:r>
              <a:rPr lang="en-US" sz="2400" dirty="0" err="1"/>
              <a:t>apbs</a:t>
            </a:r>
            <a:r>
              <a:rPr lang="en-US" sz="2400" dirty="0"/>
              <a:t> command line to get the potential of each grid points.</a:t>
            </a:r>
          </a:p>
          <a:p>
            <a:r>
              <a:rPr lang="en-US" sz="2400" dirty="0"/>
              <a:t>The format is as mentioned in website at: </a:t>
            </a:r>
          </a:p>
          <a:p>
            <a:endParaRPr lang="en-US" dirty="0"/>
          </a:p>
          <a:p>
            <a:endParaRPr lang="en-US" dirty="0"/>
          </a:p>
          <a:p>
            <a:endParaRPr lang="en-US" dirty="0"/>
          </a:p>
          <a:p>
            <a:endParaRPr lang="en-US" dirty="0"/>
          </a:p>
        </p:txBody>
      </p:sp>
      <p:sp>
        <p:nvSpPr>
          <p:cNvPr id="7" name="TextBox 6">
            <a:extLst>
              <a:ext uri="{FF2B5EF4-FFF2-40B4-BE49-F238E27FC236}">
                <a16:creationId xmlns:a16="http://schemas.microsoft.com/office/drawing/2014/main" id="{F5069F71-8816-FC64-61C6-B702B8132086}"/>
              </a:ext>
            </a:extLst>
          </p:cNvPr>
          <p:cNvSpPr txBox="1"/>
          <p:nvPr/>
        </p:nvSpPr>
        <p:spPr>
          <a:xfrm>
            <a:off x="2589212" y="3270956"/>
            <a:ext cx="7504289" cy="646331"/>
          </a:xfrm>
          <a:prstGeom prst="rect">
            <a:avLst/>
          </a:prstGeom>
          <a:noFill/>
        </p:spPr>
        <p:txBody>
          <a:bodyPr wrap="square">
            <a:spAutoFit/>
          </a:bodyPr>
          <a:lstStyle/>
          <a:p>
            <a:r>
              <a:rPr lang="en-US" sz="3600" dirty="0"/>
              <a:t>4. dx file for potentials(</a:t>
            </a:r>
            <a:r>
              <a:rPr lang="en-US" sz="3600" dirty="0" err="1"/>
              <a:t>apbs</a:t>
            </a:r>
            <a:r>
              <a:rPr lang="en-US" sz="3600" dirty="0"/>
              <a:t>)</a:t>
            </a:r>
          </a:p>
        </p:txBody>
      </p:sp>
    </p:spTree>
    <p:extLst>
      <p:ext uri="{BB962C8B-B14F-4D97-AF65-F5344CB8AC3E}">
        <p14:creationId xmlns:p14="http://schemas.microsoft.com/office/powerpoint/2010/main" val="3658646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0C9F3-8002-DD90-F252-E9D5499FC8EA}"/>
              </a:ext>
            </a:extLst>
          </p:cNvPr>
          <p:cNvSpPr>
            <a:spLocks noGrp="1"/>
          </p:cNvSpPr>
          <p:nvPr>
            <p:ph type="title"/>
          </p:nvPr>
        </p:nvSpPr>
        <p:spPr/>
        <p:txBody>
          <a:bodyPr/>
          <a:lstStyle/>
          <a:p>
            <a:r>
              <a:rPr lang="en-US" dirty="0"/>
              <a:t>PYMOL UI: Let’s get our hands dirty</a:t>
            </a:r>
            <a:br>
              <a:rPr lang="en-US" dirty="0"/>
            </a:br>
            <a:endParaRPr lang="en-US" dirty="0"/>
          </a:p>
        </p:txBody>
      </p:sp>
      <p:sp>
        <p:nvSpPr>
          <p:cNvPr id="3" name="Content Placeholder 2">
            <a:extLst>
              <a:ext uri="{FF2B5EF4-FFF2-40B4-BE49-F238E27FC236}">
                <a16:creationId xmlns:a16="http://schemas.microsoft.com/office/drawing/2014/main" id="{FA9FFAD7-52EB-DBE9-84FB-C93804C97BA0}"/>
              </a:ext>
            </a:extLst>
          </p:cNvPr>
          <p:cNvSpPr>
            <a:spLocks noGrp="1"/>
          </p:cNvSpPr>
          <p:nvPr>
            <p:ph idx="1"/>
          </p:nvPr>
        </p:nvSpPr>
        <p:spPr>
          <a:xfrm>
            <a:off x="2589212" y="2133600"/>
            <a:ext cx="9275410" cy="3777622"/>
          </a:xfrm>
        </p:spPr>
        <p:txBody>
          <a:bodyPr>
            <a:normAutofit/>
          </a:bodyPr>
          <a:lstStyle/>
          <a:p>
            <a:r>
              <a:rPr lang="en-US" sz="2400" dirty="0" err="1"/>
              <a:t>Pymol</a:t>
            </a:r>
            <a:r>
              <a:rPr lang="en-US" sz="2400" dirty="0"/>
              <a:t> is one of the software's used for structural visualizations of proteins along with various functionalities like mutations, alignment, morphing, APBS electrostatics, and many more.</a:t>
            </a:r>
          </a:p>
          <a:p>
            <a:pPr marL="0" indent="0">
              <a:buNone/>
            </a:pPr>
            <a:r>
              <a:rPr lang="en-US" sz="3200" b="1" dirty="0"/>
              <a:t>PART 1:</a:t>
            </a:r>
          </a:p>
          <a:p>
            <a:r>
              <a:rPr lang="en-US" sz="2400" dirty="0"/>
              <a:t>Let’s understand the basic motions of </a:t>
            </a:r>
            <a:r>
              <a:rPr lang="en-US" sz="2400" dirty="0" err="1"/>
              <a:t>Pymol</a:t>
            </a:r>
            <a:r>
              <a:rPr lang="en-US" sz="2400" dirty="0"/>
              <a:t> Practically.</a:t>
            </a:r>
          </a:p>
          <a:p>
            <a:pPr marL="0" indent="0">
              <a:buNone/>
            </a:pPr>
            <a:endParaRPr lang="en-US" sz="2400" dirty="0"/>
          </a:p>
        </p:txBody>
      </p:sp>
    </p:spTree>
    <p:extLst>
      <p:ext uri="{BB962C8B-B14F-4D97-AF65-F5344CB8AC3E}">
        <p14:creationId xmlns:p14="http://schemas.microsoft.com/office/powerpoint/2010/main" val="1407753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E728-22DA-A57D-38D4-D2B6C00C453F}"/>
              </a:ext>
            </a:extLst>
          </p:cNvPr>
          <p:cNvSpPr>
            <a:spLocks noGrp="1"/>
          </p:cNvSpPr>
          <p:nvPr>
            <p:ph type="title"/>
          </p:nvPr>
        </p:nvSpPr>
        <p:spPr/>
        <p:txBody>
          <a:bodyPr>
            <a:normAutofit/>
          </a:bodyPr>
          <a:lstStyle/>
          <a:p>
            <a:r>
              <a:rPr lang="en-US" sz="3200" b="1" dirty="0"/>
              <a:t>PART 2: Displaying sequences and Coloring</a:t>
            </a:r>
          </a:p>
        </p:txBody>
      </p:sp>
      <p:sp>
        <p:nvSpPr>
          <p:cNvPr id="3" name="Content Placeholder 2">
            <a:extLst>
              <a:ext uri="{FF2B5EF4-FFF2-40B4-BE49-F238E27FC236}">
                <a16:creationId xmlns:a16="http://schemas.microsoft.com/office/drawing/2014/main" id="{B64E4922-1850-6498-296D-E33455340503}"/>
              </a:ext>
            </a:extLst>
          </p:cNvPr>
          <p:cNvSpPr>
            <a:spLocks noGrp="1"/>
          </p:cNvSpPr>
          <p:nvPr>
            <p:ph idx="1"/>
          </p:nvPr>
        </p:nvSpPr>
        <p:spPr>
          <a:xfrm>
            <a:off x="2589212" y="1715910"/>
            <a:ext cx="8915400" cy="4865511"/>
          </a:xfrm>
        </p:spPr>
        <p:txBody>
          <a:bodyPr>
            <a:normAutofit lnSpcReduction="10000"/>
          </a:bodyPr>
          <a:lstStyle/>
          <a:p>
            <a:r>
              <a:rPr lang="en-US" sz="2400" dirty="0"/>
              <a:t>The sequences can be displayed using options present in </a:t>
            </a:r>
            <a:r>
              <a:rPr lang="en-US" sz="2400" dirty="0" err="1"/>
              <a:t>pymol</a:t>
            </a:r>
            <a:r>
              <a:rPr lang="en-US" sz="2400" dirty="0"/>
              <a:t>. You can also view the 3 letter or 1 letter codes for the.</a:t>
            </a:r>
          </a:p>
          <a:p>
            <a:r>
              <a:rPr lang="en-US" sz="2400" dirty="0"/>
              <a:t>Coloring is done by selecting a set of residues and going to the Color section, pick a shape and color.</a:t>
            </a:r>
          </a:p>
          <a:p>
            <a:endParaRPr lang="en-US" dirty="0"/>
          </a:p>
          <a:p>
            <a:pPr marL="0" indent="0">
              <a:buNone/>
            </a:pPr>
            <a:r>
              <a:rPr lang="en-US" sz="3200" b="1" dirty="0"/>
              <a:t>PART 3: Alignment between 2 proteins</a:t>
            </a:r>
          </a:p>
          <a:p>
            <a:endParaRPr lang="en-US" dirty="0"/>
          </a:p>
          <a:p>
            <a:r>
              <a:rPr lang="en-US" sz="2400" dirty="0"/>
              <a:t>Protein alignment is very important aspect in understanding differences between conformations of proteins. You can do it using command </a:t>
            </a:r>
            <a:r>
              <a:rPr lang="en-US" sz="2400" b="1" dirty="0"/>
              <a:t>`super` </a:t>
            </a:r>
            <a:r>
              <a:rPr lang="en-US" sz="2400" dirty="0"/>
              <a:t>or using the inbuilt </a:t>
            </a:r>
            <a:r>
              <a:rPr lang="en-US" sz="2400" b="1" dirty="0"/>
              <a:t>`align` </a:t>
            </a:r>
            <a:r>
              <a:rPr lang="en-US" sz="2400" dirty="0"/>
              <a:t>function.</a:t>
            </a:r>
          </a:p>
          <a:p>
            <a:endParaRPr lang="en-US" dirty="0"/>
          </a:p>
          <a:p>
            <a:pPr marL="0" indent="0">
              <a:buNone/>
            </a:pPr>
            <a:endParaRPr lang="en-US" dirty="0"/>
          </a:p>
          <a:p>
            <a:pPr marL="0" indent="0">
              <a:buNone/>
            </a:pPr>
            <a:endParaRPr lang="en-US" sz="3200" b="1" dirty="0"/>
          </a:p>
        </p:txBody>
      </p:sp>
    </p:spTree>
    <p:extLst>
      <p:ext uri="{BB962C8B-B14F-4D97-AF65-F5344CB8AC3E}">
        <p14:creationId xmlns:p14="http://schemas.microsoft.com/office/powerpoint/2010/main" val="11278020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E728-22DA-A57D-38D4-D2B6C00C453F}"/>
              </a:ext>
            </a:extLst>
          </p:cNvPr>
          <p:cNvSpPr>
            <a:spLocks noGrp="1"/>
          </p:cNvSpPr>
          <p:nvPr>
            <p:ph type="title"/>
          </p:nvPr>
        </p:nvSpPr>
        <p:spPr/>
        <p:txBody>
          <a:bodyPr>
            <a:normAutofit/>
          </a:bodyPr>
          <a:lstStyle/>
          <a:p>
            <a:r>
              <a:rPr lang="en-US" sz="3200" b="1" dirty="0"/>
              <a:t>PART 4: Morphing two proteins</a:t>
            </a:r>
          </a:p>
        </p:txBody>
      </p:sp>
      <p:sp>
        <p:nvSpPr>
          <p:cNvPr id="3" name="Content Placeholder 2">
            <a:extLst>
              <a:ext uri="{FF2B5EF4-FFF2-40B4-BE49-F238E27FC236}">
                <a16:creationId xmlns:a16="http://schemas.microsoft.com/office/drawing/2014/main" id="{B64E4922-1850-6498-296D-E33455340503}"/>
              </a:ext>
            </a:extLst>
          </p:cNvPr>
          <p:cNvSpPr>
            <a:spLocks noGrp="1"/>
          </p:cNvSpPr>
          <p:nvPr>
            <p:ph idx="1"/>
          </p:nvPr>
        </p:nvSpPr>
        <p:spPr>
          <a:xfrm>
            <a:off x="2589212" y="1264356"/>
            <a:ext cx="8915400" cy="5317065"/>
          </a:xfrm>
        </p:spPr>
        <p:txBody>
          <a:bodyPr>
            <a:normAutofit lnSpcReduction="10000"/>
          </a:bodyPr>
          <a:lstStyle/>
          <a:p>
            <a:r>
              <a:rPr lang="en-US" sz="2400" dirty="0"/>
              <a:t>Morphing of proteins means creating a visual animation like showing you possible way of conversion from one form of protein to the other</a:t>
            </a:r>
          </a:p>
          <a:p>
            <a:pPr marL="0" indent="0">
              <a:buNone/>
            </a:pPr>
            <a:endParaRPr lang="en-US" dirty="0"/>
          </a:p>
          <a:p>
            <a:pPr marL="0" indent="0">
              <a:buNone/>
            </a:pPr>
            <a:r>
              <a:rPr lang="en-US" sz="3200" b="1" dirty="0"/>
              <a:t>PART 5: Mutations</a:t>
            </a:r>
          </a:p>
          <a:p>
            <a:endParaRPr lang="en-US" dirty="0"/>
          </a:p>
          <a:p>
            <a:r>
              <a:rPr lang="en-US" sz="2400" dirty="0" err="1"/>
              <a:t>Pymol</a:t>
            </a:r>
            <a:r>
              <a:rPr lang="en-US" sz="2400" dirty="0"/>
              <a:t> allows mutations of residues with various rotamers to choose from. No 1 rotamer has maximum % of occurrence is usually chosen. However it may not be the one with the least strain.</a:t>
            </a:r>
          </a:p>
          <a:p>
            <a:r>
              <a:rPr lang="en-US" sz="2400" dirty="0"/>
              <a:t>For large proteins, point mutations wont effect the structure too much, but for very small proteins, it is recommended to use AlphaFold or search PDB for your protein.</a:t>
            </a:r>
            <a:endParaRPr lang="en-US" dirty="0"/>
          </a:p>
          <a:p>
            <a:pPr marL="0" indent="0">
              <a:buNone/>
            </a:pPr>
            <a:endParaRPr lang="en-US" dirty="0"/>
          </a:p>
          <a:p>
            <a:pPr marL="0" indent="0">
              <a:buNone/>
            </a:pPr>
            <a:endParaRPr lang="en-US" sz="3200" b="1" dirty="0"/>
          </a:p>
        </p:txBody>
      </p:sp>
    </p:spTree>
    <p:extLst>
      <p:ext uri="{BB962C8B-B14F-4D97-AF65-F5344CB8AC3E}">
        <p14:creationId xmlns:p14="http://schemas.microsoft.com/office/powerpoint/2010/main" val="2735864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E728-22DA-A57D-38D4-D2B6C00C453F}"/>
              </a:ext>
            </a:extLst>
          </p:cNvPr>
          <p:cNvSpPr>
            <a:spLocks noGrp="1"/>
          </p:cNvSpPr>
          <p:nvPr>
            <p:ph type="title"/>
          </p:nvPr>
        </p:nvSpPr>
        <p:spPr/>
        <p:txBody>
          <a:bodyPr>
            <a:normAutofit/>
          </a:bodyPr>
          <a:lstStyle/>
          <a:p>
            <a:r>
              <a:rPr lang="en-US" sz="3200" dirty="0"/>
              <a:t>PYTHON AND PYMOL</a:t>
            </a:r>
            <a:endParaRPr lang="en-US" dirty="0"/>
          </a:p>
        </p:txBody>
      </p:sp>
      <p:sp>
        <p:nvSpPr>
          <p:cNvPr id="3" name="Content Placeholder 2">
            <a:extLst>
              <a:ext uri="{FF2B5EF4-FFF2-40B4-BE49-F238E27FC236}">
                <a16:creationId xmlns:a16="http://schemas.microsoft.com/office/drawing/2014/main" id="{B64E4922-1850-6498-296D-E33455340503}"/>
              </a:ext>
            </a:extLst>
          </p:cNvPr>
          <p:cNvSpPr>
            <a:spLocks noGrp="1"/>
          </p:cNvSpPr>
          <p:nvPr>
            <p:ph idx="1"/>
          </p:nvPr>
        </p:nvSpPr>
        <p:spPr>
          <a:xfrm>
            <a:off x="2589212" y="1478843"/>
            <a:ext cx="8915400" cy="4865511"/>
          </a:xfrm>
        </p:spPr>
        <p:txBody>
          <a:bodyPr>
            <a:normAutofit/>
          </a:bodyPr>
          <a:lstStyle/>
          <a:p>
            <a:r>
              <a:rPr lang="en-US" sz="2000" dirty="0"/>
              <a:t>One of the big advantages of using </a:t>
            </a:r>
            <a:r>
              <a:rPr lang="en-US" sz="2000" dirty="0" err="1"/>
              <a:t>Pymol</a:t>
            </a:r>
            <a:r>
              <a:rPr lang="en-US" sz="2000" dirty="0"/>
              <a:t> is its ability to run python codes thus make it easy for automation</a:t>
            </a:r>
          </a:p>
          <a:p>
            <a:r>
              <a:rPr lang="en-US" sz="2000" dirty="0"/>
              <a:t>The `</a:t>
            </a:r>
            <a:r>
              <a:rPr lang="en-US" sz="2000" dirty="0" err="1"/>
              <a:t>pymol</a:t>
            </a:r>
            <a:r>
              <a:rPr lang="en-US" sz="2000" dirty="0"/>
              <a:t>` library supports `</a:t>
            </a:r>
            <a:r>
              <a:rPr lang="en-US" sz="2000" dirty="0" err="1"/>
              <a:t>cmd</a:t>
            </a:r>
            <a:r>
              <a:rPr lang="en-US" sz="2000" dirty="0"/>
              <a:t>` which allows the use of various functionalities like morphing, aligning, coloring, selecting residues, mutations, etc.</a:t>
            </a:r>
          </a:p>
          <a:p>
            <a:r>
              <a:rPr lang="en-US" b="1" dirty="0"/>
              <a:t>NOTE: </a:t>
            </a:r>
          </a:p>
          <a:p>
            <a:pPr marL="0" indent="0">
              <a:buNone/>
            </a:pPr>
            <a:r>
              <a:rPr lang="en-US" sz="2000" dirty="0"/>
              <a:t>You cannot run python code in your terminal, you would have to run the python code by going to the directory containing the code inside the PYMOL COMMAND LINE and entering the command –</a:t>
            </a:r>
          </a:p>
          <a:p>
            <a:pPr marL="0" indent="0">
              <a:buNone/>
            </a:pPr>
            <a:r>
              <a:rPr lang="en-US" sz="2000" dirty="0"/>
              <a:t>						</a:t>
            </a:r>
            <a:r>
              <a:rPr lang="en-US" sz="2800" i="1" dirty="0"/>
              <a:t>run </a:t>
            </a:r>
            <a:r>
              <a:rPr lang="en-US" sz="2800" i="1" dirty="0" err="1"/>
              <a:t>pymol_code.py</a:t>
            </a:r>
            <a:endParaRPr lang="en-US" sz="2800" i="1" dirty="0"/>
          </a:p>
          <a:p>
            <a:pPr marL="0" indent="0">
              <a:buNone/>
            </a:pPr>
            <a:endParaRPr lang="en-US" sz="2000" b="1" dirty="0"/>
          </a:p>
          <a:p>
            <a:r>
              <a:rPr lang="en-US" sz="2000" dirty="0"/>
              <a:t>Let’s look at various examples - </a:t>
            </a:r>
          </a:p>
          <a:p>
            <a:pPr marL="0" indent="0">
              <a:buNone/>
            </a:pPr>
            <a:endParaRPr lang="en-US" sz="3200" b="1" dirty="0"/>
          </a:p>
        </p:txBody>
      </p:sp>
    </p:spTree>
    <p:extLst>
      <p:ext uri="{BB962C8B-B14F-4D97-AF65-F5344CB8AC3E}">
        <p14:creationId xmlns:p14="http://schemas.microsoft.com/office/powerpoint/2010/main" val="3905381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A3ED5-5235-6BD4-BCCA-A9F06AE2A6C9}"/>
              </a:ext>
            </a:extLst>
          </p:cNvPr>
          <p:cNvSpPr>
            <a:spLocks noGrp="1"/>
          </p:cNvSpPr>
          <p:nvPr>
            <p:ph type="title"/>
          </p:nvPr>
        </p:nvSpPr>
        <p:spPr/>
        <p:txBody>
          <a:bodyPr/>
          <a:lstStyle/>
          <a:p>
            <a:r>
              <a:rPr lang="en-US" dirty="0"/>
              <a:t>List of Some commands for python</a:t>
            </a:r>
          </a:p>
        </p:txBody>
      </p:sp>
      <p:sp>
        <p:nvSpPr>
          <p:cNvPr id="3" name="Content Placeholder 2">
            <a:extLst>
              <a:ext uri="{FF2B5EF4-FFF2-40B4-BE49-F238E27FC236}">
                <a16:creationId xmlns:a16="http://schemas.microsoft.com/office/drawing/2014/main" id="{E28D8136-47E9-6FBB-E2B9-E024F107113A}"/>
              </a:ext>
            </a:extLst>
          </p:cNvPr>
          <p:cNvSpPr>
            <a:spLocks noGrp="1"/>
          </p:cNvSpPr>
          <p:nvPr>
            <p:ph idx="1"/>
          </p:nvPr>
        </p:nvSpPr>
        <p:spPr>
          <a:xfrm>
            <a:off x="2592925" y="1147501"/>
            <a:ext cx="8915400" cy="5086389"/>
          </a:xfrm>
        </p:spPr>
        <p:txBody>
          <a:bodyPr>
            <a:normAutofit/>
          </a:bodyPr>
          <a:lstStyle/>
          <a:p>
            <a:pPr marL="0" indent="0">
              <a:buNone/>
            </a:pPr>
            <a:endParaRPr lang="en-US" sz="2400" b="1" dirty="0"/>
          </a:p>
          <a:p>
            <a:pPr marL="0" indent="0">
              <a:buNone/>
            </a:pPr>
            <a:r>
              <a:rPr lang="en-US" sz="2800" b="1" dirty="0"/>
              <a:t>GENERAL COMMANDS </a:t>
            </a:r>
            <a:endParaRPr lang="en-US" sz="2000" dirty="0"/>
          </a:p>
          <a:p>
            <a:r>
              <a:rPr lang="en-US" sz="2400" dirty="0"/>
              <a:t> </a:t>
            </a:r>
            <a:r>
              <a:rPr lang="en-US" sz="2400" dirty="0" err="1"/>
              <a:t>cmd.fetch</a:t>
            </a:r>
            <a:r>
              <a:rPr lang="en-US" sz="2400" dirty="0"/>
              <a:t>(protein)</a:t>
            </a:r>
          </a:p>
          <a:p>
            <a:r>
              <a:rPr lang="en-US" sz="2400" dirty="0"/>
              <a:t> </a:t>
            </a:r>
            <a:r>
              <a:rPr lang="en-US" sz="2400" dirty="0" err="1"/>
              <a:t>cmd.align</a:t>
            </a:r>
            <a:r>
              <a:rPr lang="en-US" sz="2400" dirty="0"/>
              <a:t>(protein1, protein2)</a:t>
            </a:r>
          </a:p>
          <a:p>
            <a:r>
              <a:rPr lang="en-US" sz="2400" dirty="0"/>
              <a:t> </a:t>
            </a:r>
            <a:r>
              <a:rPr lang="en-US" sz="2400" dirty="0" err="1"/>
              <a:t>number_of_states</a:t>
            </a:r>
            <a:r>
              <a:rPr lang="en-US" sz="2400" dirty="0"/>
              <a:t> = </a:t>
            </a:r>
            <a:r>
              <a:rPr lang="en-US" sz="2400" dirty="0" err="1"/>
              <a:t>cmd.count_states</a:t>
            </a:r>
            <a:r>
              <a:rPr lang="en-US" sz="2400" dirty="0"/>
              <a:t>("morph")</a:t>
            </a:r>
          </a:p>
          <a:p>
            <a:r>
              <a:rPr lang="en-US" sz="2400" dirty="0"/>
              <a:t> </a:t>
            </a:r>
            <a:r>
              <a:rPr lang="en-US" sz="2400" dirty="0" err="1"/>
              <a:t>cmd.set_name</a:t>
            </a:r>
            <a:r>
              <a:rPr lang="en-US" sz="2400" dirty="0"/>
              <a:t>(</a:t>
            </a:r>
            <a:r>
              <a:rPr lang="en-US" sz="2400" dirty="0" err="1"/>
              <a:t>old_name</a:t>
            </a:r>
            <a:r>
              <a:rPr lang="en-US" sz="2400" dirty="0"/>
              <a:t>, </a:t>
            </a:r>
            <a:r>
              <a:rPr lang="en-US" sz="2400" dirty="0" err="1"/>
              <a:t>new_name</a:t>
            </a:r>
            <a:r>
              <a:rPr lang="en-US" sz="2400" dirty="0"/>
              <a:t>)</a:t>
            </a:r>
          </a:p>
          <a:p>
            <a:r>
              <a:rPr lang="en-US" sz="2400" dirty="0"/>
              <a:t> </a:t>
            </a:r>
            <a:r>
              <a:rPr lang="en-US" sz="2400" dirty="0" err="1"/>
              <a:t>cmd.delete</a:t>
            </a:r>
            <a:r>
              <a:rPr lang="en-US" sz="2400" dirty="0"/>
              <a:t>(name)</a:t>
            </a:r>
          </a:p>
          <a:p>
            <a:r>
              <a:rPr lang="en-US" sz="2400" dirty="0"/>
              <a:t> </a:t>
            </a:r>
            <a:r>
              <a:rPr lang="en-US" sz="2400" dirty="0" err="1"/>
              <a:t>cmd.create</a:t>
            </a:r>
            <a:r>
              <a:rPr lang="en-US" sz="2400" dirty="0"/>
              <a:t>(name, selection) # for selection</a:t>
            </a:r>
          </a:p>
          <a:p>
            <a:pPr marL="0" indent="0">
              <a:buNone/>
            </a:pPr>
            <a:endParaRPr lang="en-US" dirty="0"/>
          </a:p>
        </p:txBody>
      </p:sp>
    </p:spTree>
    <p:extLst>
      <p:ext uri="{BB962C8B-B14F-4D97-AF65-F5344CB8AC3E}">
        <p14:creationId xmlns:p14="http://schemas.microsoft.com/office/powerpoint/2010/main" val="3757043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A3ED5-5235-6BD4-BCCA-A9F06AE2A6C9}"/>
              </a:ext>
            </a:extLst>
          </p:cNvPr>
          <p:cNvSpPr>
            <a:spLocks noGrp="1"/>
          </p:cNvSpPr>
          <p:nvPr>
            <p:ph type="title"/>
          </p:nvPr>
        </p:nvSpPr>
        <p:spPr/>
        <p:txBody>
          <a:bodyPr/>
          <a:lstStyle/>
          <a:p>
            <a:r>
              <a:rPr lang="en-US" dirty="0"/>
              <a:t>List of Some commands for python</a:t>
            </a:r>
          </a:p>
        </p:txBody>
      </p:sp>
      <p:sp>
        <p:nvSpPr>
          <p:cNvPr id="3" name="Content Placeholder 2">
            <a:extLst>
              <a:ext uri="{FF2B5EF4-FFF2-40B4-BE49-F238E27FC236}">
                <a16:creationId xmlns:a16="http://schemas.microsoft.com/office/drawing/2014/main" id="{E28D8136-47E9-6FBB-E2B9-E024F107113A}"/>
              </a:ext>
            </a:extLst>
          </p:cNvPr>
          <p:cNvSpPr>
            <a:spLocks noGrp="1"/>
          </p:cNvSpPr>
          <p:nvPr>
            <p:ph idx="1"/>
          </p:nvPr>
        </p:nvSpPr>
        <p:spPr>
          <a:xfrm>
            <a:off x="2592925" y="1147501"/>
            <a:ext cx="8915400" cy="5086389"/>
          </a:xfrm>
        </p:spPr>
        <p:txBody>
          <a:bodyPr>
            <a:normAutofit/>
          </a:bodyPr>
          <a:lstStyle/>
          <a:p>
            <a:pPr marL="0" indent="0">
              <a:buNone/>
            </a:pPr>
            <a:endParaRPr lang="en-US" sz="2400" b="1" dirty="0"/>
          </a:p>
          <a:p>
            <a:pPr marL="0" indent="0">
              <a:buNone/>
            </a:pPr>
            <a:r>
              <a:rPr lang="en-US" sz="2800" b="1" dirty="0"/>
              <a:t>FOR MUTATIONS (in order)</a:t>
            </a:r>
            <a:endParaRPr lang="en-US" sz="2000" dirty="0"/>
          </a:p>
          <a:p>
            <a:r>
              <a:rPr lang="en-US" sz="2400" dirty="0"/>
              <a:t> </a:t>
            </a:r>
            <a:r>
              <a:rPr lang="en-US" sz="2400" dirty="0" err="1"/>
              <a:t>cmd.wizard</a:t>
            </a:r>
            <a:r>
              <a:rPr lang="en-US" sz="2400" dirty="0"/>
              <a:t>("mutagenesis")</a:t>
            </a:r>
          </a:p>
          <a:p>
            <a:r>
              <a:rPr lang="en-US" sz="2400" dirty="0"/>
              <a:t> </a:t>
            </a:r>
            <a:r>
              <a:rPr lang="en-US" sz="2400" dirty="0" err="1"/>
              <a:t>cmd.get_wizard</a:t>
            </a:r>
            <a:r>
              <a:rPr lang="en-US" sz="2400" dirty="0"/>
              <a:t>().</a:t>
            </a:r>
            <a:r>
              <a:rPr lang="en-US" sz="2400" dirty="0" err="1"/>
              <a:t>set_mode</a:t>
            </a:r>
            <a:r>
              <a:rPr lang="en-US" sz="2400" dirty="0"/>
              <a:t>(mutant)</a:t>
            </a:r>
          </a:p>
          <a:p>
            <a:r>
              <a:rPr lang="en-US" sz="2400" dirty="0" err="1"/>
              <a:t>cmd.get_wizard</a:t>
            </a:r>
            <a:r>
              <a:rPr lang="en-US" sz="2400" dirty="0"/>
              <a:t>().</a:t>
            </a:r>
            <a:r>
              <a:rPr lang="en-US" sz="2400" dirty="0" err="1"/>
              <a:t>do_select</a:t>
            </a:r>
            <a:r>
              <a:rPr lang="en-US" sz="2400" dirty="0"/>
              <a:t>(</a:t>
            </a:r>
            <a:r>
              <a:rPr lang="en-US" sz="2400" dirty="0" err="1"/>
              <a:t>f"chain</a:t>
            </a:r>
            <a:r>
              <a:rPr lang="en-US" sz="2400" dirty="0"/>
              <a:t> A and resid {n}")</a:t>
            </a:r>
          </a:p>
          <a:p>
            <a:r>
              <a:rPr lang="en-US" sz="2400" dirty="0" err="1"/>
              <a:t>cmd.frame</a:t>
            </a:r>
            <a:r>
              <a:rPr lang="en-US" sz="2400" dirty="0"/>
              <a:t>(1)</a:t>
            </a:r>
          </a:p>
          <a:p>
            <a:r>
              <a:rPr lang="en-US" sz="2400" dirty="0" err="1"/>
              <a:t>cmd.get_wizard</a:t>
            </a:r>
            <a:r>
              <a:rPr lang="en-US" sz="2400" dirty="0"/>
              <a:t>().apply()</a:t>
            </a:r>
          </a:p>
          <a:p>
            <a:r>
              <a:rPr lang="en-US" sz="2400" dirty="0" err="1"/>
              <a:t>cmd.wizard</a:t>
            </a:r>
            <a:r>
              <a:rPr lang="en-US" sz="2400" dirty="0"/>
              <a:t>(None)</a:t>
            </a:r>
          </a:p>
          <a:p>
            <a:endParaRPr lang="en-US" dirty="0"/>
          </a:p>
          <a:p>
            <a:pPr marL="0" indent="0">
              <a:buNone/>
            </a:pPr>
            <a:endParaRPr lang="en-US" dirty="0"/>
          </a:p>
        </p:txBody>
      </p:sp>
    </p:spTree>
    <p:extLst>
      <p:ext uri="{BB962C8B-B14F-4D97-AF65-F5344CB8AC3E}">
        <p14:creationId xmlns:p14="http://schemas.microsoft.com/office/powerpoint/2010/main" val="2598493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0E95E-8BD5-A562-1002-35C7623A00A7}"/>
              </a:ext>
            </a:extLst>
          </p:cNvPr>
          <p:cNvSpPr>
            <a:spLocks noGrp="1"/>
          </p:cNvSpPr>
          <p:nvPr>
            <p:ph type="title"/>
          </p:nvPr>
        </p:nvSpPr>
        <p:spPr>
          <a:xfrm>
            <a:off x="2592925" y="624109"/>
            <a:ext cx="8911687" cy="1599801"/>
          </a:xfrm>
        </p:spPr>
        <p:txBody>
          <a:bodyPr>
            <a:normAutofit fontScale="90000"/>
          </a:bodyPr>
          <a:lstStyle/>
          <a:p>
            <a:r>
              <a:rPr lang="en-US" sz="4000" dirty="0"/>
              <a:t>APBS ELECTROSTATICS </a:t>
            </a:r>
            <a:br>
              <a:rPr lang="en-US" sz="4000" dirty="0"/>
            </a:br>
            <a:r>
              <a:rPr lang="en-US" sz="4000" dirty="0"/>
              <a:t>(Adaptive Poisson Boltzmann Solver)</a:t>
            </a:r>
            <a:br>
              <a:rPr lang="en-US" dirty="0"/>
            </a:br>
            <a:br>
              <a:rPr lang="en-US" dirty="0"/>
            </a:br>
            <a:r>
              <a:rPr lang="en-US" sz="2800" b="1" dirty="0"/>
              <a:t>WHAT IS APBS?</a:t>
            </a:r>
            <a:endParaRPr lang="en-US" b="1" dirty="0"/>
          </a:p>
        </p:txBody>
      </p:sp>
      <p:sp>
        <p:nvSpPr>
          <p:cNvPr id="6" name="Content Placeholder 5">
            <a:extLst>
              <a:ext uri="{FF2B5EF4-FFF2-40B4-BE49-F238E27FC236}">
                <a16:creationId xmlns:a16="http://schemas.microsoft.com/office/drawing/2014/main" id="{D8906E6D-15FB-9903-A4F0-C8CB4D2368CB}"/>
              </a:ext>
            </a:extLst>
          </p:cNvPr>
          <p:cNvSpPr>
            <a:spLocks noGrp="1"/>
          </p:cNvSpPr>
          <p:nvPr>
            <p:ph idx="1"/>
          </p:nvPr>
        </p:nvSpPr>
        <p:spPr>
          <a:xfrm>
            <a:off x="2589212" y="2456269"/>
            <a:ext cx="8915400" cy="3777622"/>
          </a:xfrm>
        </p:spPr>
        <p:txBody>
          <a:bodyPr/>
          <a:lstStyle/>
          <a:p>
            <a:endParaRPr lang="en-US" dirty="0"/>
          </a:p>
          <a:p>
            <a:r>
              <a:rPr lang="en-IN" dirty="0"/>
              <a:t>It describes electrostatic interactions between molecular solutes in a solvent. This is crucial for understanding how charges within and around a protein influence its structure and function.</a:t>
            </a:r>
          </a:p>
          <a:p>
            <a:r>
              <a:rPr lang="en-IN" dirty="0"/>
              <a:t>APBS calculates the electrostatic potential of biomolecules, providing insights into the distribution of electric charges. </a:t>
            </a:r>
          </a:p>
          <a:p>
            <a:r>
              <a:rPr lang="en-IN" dirty="0"/>
              <a:t>The electrostatic potential maps generated by APBS can be visualized to reveal regions of positive and negative charge on the protein surface. T</a:t>
            </a:r>
            <a:br>
              <a:rPr lang="en-IN" dirty="0"/>
            </a:br>
            <a:endParaRPr lang="en-US" dirty="0"/>
          </a:p>
          <a:p>
            <a:endParaRPr lang="en-US" dirty="0"/>
          </a:p>
          <a:p>
            <a:endParaRPr lang="en-US" dirty="0"/>
          </a:p>
        </p:txBody>
      </p:sp>
    </p:spTree>
    <p:extLst>
      <p:ext uri="{BB962C8B-B14F-4D97-AF65-F5344CB8AC3E}">
        <p14:creationId xmlns:p14="http://schemas.microsoft.com/office/powerpoint/2010/main" val="3561098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923EA-B995-6B78-D4A1-6D1C1B50E3B9}"/>
              </a:ext>
            </a:extLst>
          </p:cNvPr>
          <p:cNvSpPr>
            <a:spLocks noGrp="1"/>
          </p:cNvSpPr>
          <p:nvPr>
            <p:ph type="title"/>
          </p:nvPr>
        </p:nvSpPr>
        <p:spPr/>
        <p:txBody>
          <a:bodyPr/>
          <a:lstStyle/>
          <a:p>
            <a:r>
              <a:rPr lang="en-US" dirty="0"/>
              <a:t>USING APBS</a:t>
            </a:r>
          </a:p>
        </p:txBody>
      </p:sp>
      <p:sp>
        <p:nvSpPr>
          <p:cNvPr id="3" name="Content Placeholder 2">
            <a:extLst>
              <a:ext uri="{FF2B5EF4-FFF2-40B4-BE49-F238E27FC236}">
                <a16:creationId xmlns:a16="http://schemas.microsoft.com/office/drawing/2014/main" id="{37113660-9101-BAD5-65D1-6DD083161018}"/>
              </a:ext>
            </a:extLst>
          </p:cNvPr>
          <p:cNvSpPr>
            <a:spLocks noGrp="1"/>
          </p:cNvSpPr>
          <p:nvPr>
            <p:ph idx="1"/>
          </p:nvPr>
        </p:nvSpPr>
        <p:spPr>
          <a:xfrm>
            <a:off x="2589212" y="1540188"/>
            <a:ext cx="8915400" cy="4693701"/>
          </a:xfrm>
        </p:spPr>
        <p:txBody>
          <a:bodyPr>
            <a:normAutofit/>
          </a:bodyPr>
          <a:lstStyle/>
          <a:p>
            <a:pPr marL="0" indent="0">
              <a:buNone/>
            </a:pPr>
            <a:r>
              <a:rPr lang="en-US" sz="2400" b="1" dirty="0"/>
              <a:t>PART 1: WEB SERVERS</a:t>
            </a:r>
          </a:p>
          <a:p>
            <a:r>
              <a:rPr lang="en-US" sz="2000" dirty="0"/>
              <a:t>There are many webservers among which the two primary webservers to use are </a:t>
            </a:r>
          </a:p>
          <a:p>
            <a:pPr lvl="1"/>
            <a:r>
              <a:rPr lang="en-US" dirty="0"/>
              <a:t>APBS Webserver</a:t>
            </a:r>
          </a:p>
          <a:p>
            <a:pPr lvl="1"/>
            <a:r>
              <a:rPr lang="en-US" dirty="0" err="1"/>
              <a:t>DelPhi</a:t>
            </a:r>
            <a:endParaRPr lang="en-US" dirty="0"/>
          </a:p>
          <a:p>
            <a:r>
              <a:rPr lang="en-US" sz="2000" dirty="0"/>
              <a:t>These webservers are easy-to-use, </a:t>
            </a:r>
            <a:r>
              <a:rPr lang="en-US" sz="2000" dirty="0" err="1"/>
              <a:t>paramaters</a:t>
            </a:r>
            <a:r>
              <a:rPr lang="en-US" sz="2000" dirty="0"/>
              <a:t> can also be easily set and results are calculated within minutes or more(depending on the size of protein).</a:t>
            </a:r>
          </a:p>
          <a:p>
            <a:r>
              <a:rPr lang="en-US" sz="2000" dirty="0"/>
              <a:t>Let’s take a look at Both of these APBS Webservers and do some calculations on them</a:t>
            </a:r>
          </a:p>
          <a:p>
            <a:endParaRPr lang="en-US" sz="2000" dirty="0"/>
          </a:p>
          <a:p>
            <a:endParaRPr lang="en-US" sz="2400" b="1" dirty="0"/>
          </a:p>
        </p:txBody>
      </p:sp>
    </p:spTree>
    <p:extLst>
      <p:ext uri="{BB962C8B-B14F-4D97-AF65-F5344CB8AC3E}">
        <p14:creationId xmlns:p14="http://schemas.microsoft.com/office/powerpoint/2010/main" val="2250372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23CA9-5A84-21E8-7D03-5B58356CF03E}"/>
              </a:ext>
            </a:extLst>
          </p:cNvPr>
          <p:cNvSpPr>
            <a:spLocks noGrp="1"/>
          </p:cNvSpPr>
          <p:nvPr>
            <p:ph type="title"/>
          </p:nvPr>
        </p:nvSpPr>
        <p:spPr/>
        <p:txBody>
          <a:bodyPr/>
          <a:lstStyle/>
          <a:p>
            <a:r>
              <a:rPr lang="en-US" dirty="0"/>
              <a:t>Command line tool usages</a:t>
            </a:r>
          </a:p>
        </p:txBody>
      </p:sp>
      <p:sp>
        <p:nvSpPr>
          <p:cNvPr id="3" name="Content Placeholder 2">
            <a:extLst>
              <a:ext uri="{FF2B5EF4-FFF2-40B4-BE49-F238E27FC236}">
                <a16:creationId xmlns:a16="http://schemas.microsoft.com/office/drawing/2014/main" id="{2B38FA86-2F5D-5568-3FC8-B7DABFE4D1B2}"/>
              </a:ext>
            </a:extLst>
          </p:cNvPr>
          <p:cNvSpPr>
            <a:spLocks noGrp="1"/>
          </p:cNvSpPr>
          <p:nvPr>
            <p:ph idx="1"/>
          </p:nvPr>
        </p:nvSpPr>
        <p:spPr>
          <a:xfrm>
            <a:off x="2589212" y="1704622"/>
            <a:ext cx="8915400" cy="4206600"/>
          </a:xfrm>
        </p:spPr>
        <p:txBody>
          <a:bodyPr>
            <a:normAutofit/>
          </a:bodyPr>
          <a:lstStyle/>
          <a:p>
            <a:r>
              <a:rPr lang="en-US" sz="2400" dirty="0"/>
              <a:t>The two main tools we will use are – </a:t>
            </a:r>
          </a:p>
          <a:p>
            <a:pPr lvl="1"/>
            <a:r>
              <a:rPr lang="en-US" sz="2000" b="1" dirty="0"/>
              <a:t>Pdb2pqr</a:t>
            </a:r>
            <a:r>
              <a:rPr lang="en-US" sz="2000" dirty="0"/>
              <a:t> – to convert </a:t>
            </a:r>
            <a:r>
              <a:rPr lang="en-US" sz="2000" dirty="0" err="1"/>
              <a:t>pdb</a:t>
            </a:r>
            <a:r>
              <a:rPr lang="en-US" sz="2000" dirty="0"/>
              <a:t> to </a:t>
            </a:r>
            <a:r>
              <a:rPr lang="en-US" sz="2000" dirty="0" err="1"/>
              <a:t>pqr</a:t>
            </a:r>
            <a:r>
              <a:rPr lang="en-US" sz="2000" dirty="0"/>
              <a:t>, generation of input files, changing </a:t>
            </a:r>
            <a:r>
              <a:rPr lang="en-US" sz="2000" dirty="0" err="1"/>
              <a:t>ph</a:t>
            </a:r>
            <a:r>
              <a:rPr lang="en-US" sz="2000" dirty="0"/>
              <a:t> and setting other properties</a:t>
            </a:r>
          </a:p>
          <a:p>
            <a:pPr lvl="1"/>
            <a:r>
              <a:rPr lang="en-US" sz="2000" b="1" dirty="0" err="1"/>
              <a:t>Apbs</a:t>
            </a:r>
            <a:r>
              <a:rPr lang="en-US" sz="2000" b="1" dirty="0"/>
              <a:t> </a:t>
            </a:r>
            <a:r>
              <a:rPr lang="en-US" sz="2000" dirty="0"/>
              <a:t>– which calculates the potentials for us </a:t>
            </a:r>
          </a:p>
          <a:p>
            <a:pPr marL="0" indent="0">
              <a:buNone/>
            </a:pPr>
            <a:r>
              <a:rPr lang="en-US" sz="2800" b="1" dirty="0"/>
              <a:t>BENEFITS OF THESE</a:t>
            </a:r>
          </a:p>
          <a:p>
            <a:r>
              <a:rPr lang="en-US" sz="2400" dirty="0"/>
              <a:t>Automating our work. </a:t>
            </a:r>
          </a:p>
          <a:p>
            <a:r>
              <a:rPr lang="en-US" sz="2400" dirty="0"/>
              <a:t>Calculating </a:t>
            </a:r>
            <a:r>
              <a:rPr lang="en-US" sz="2400" dirty="0" err="1"/>
              <a:t>apbs</a:t>
            </a:r>
            <a:r>
              <a:rPr lang="en-US" sz="2400" dirty="0"/>
              <a:t> values without using webservers can be faster and more flexible.</a:t>
            </a:r>
          </a:p>
          <a:p>
            <a:r>
              <a:rPr lang="en-US" sz="2400" dirty="0"/>
              <a:t>Some people (like me) just prefer command line</a:t>
            </a:r>
          </a:p>
        </p:txBody>
      </p:sp>
    </p:spTree>
    <p:extLst>
      <p:ext uri="{BB962C8B-B14F-4D97-AF65-F5344CB8AC3E}">
        <p14:creationId xmlns:p14="http://schemas.microsoft.com/office/powerpoint/2010/main" val="1725421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12D57-43E9-4FD5-D7DC-09A9DA4054B5}"/>
              </a:ext>
            </a:extLst>
          </p:cNvPr>
          <p:cNvSpPr>
            <a:spLocks noGrp="1"/>
          </p:cNvSpPr>
          <p:nvPr>
            <p:ph type="title"/>
          </p:nvPr>
        </p:nvSpPr>
        <p:spPr/>
        <p:txBody>
          <a:bodyPr/>
          <a:lstStyle/>
          <a:p>
            <a:r>
              <a:rPr lang="en-US" dirty="0"/>
              <a:t>PDB2PQR and input file for APBS</a:t>
            </a:r>
          </a:p>
        </p:txBody>
      </p:sp>
      <p:sp>
        <p:nvSpPr>
          <p:cNvPr id="3" name="Content Placeholder 2">
            <a:extLst>
              <a:ext uri="{FF2B5EF4-FFF2-40B4-BE49-F238E27FC236}">
                <a16:creationId xmlns:a16="http://schemas.microsoft.com/office/drawing/2014/main" id="{61B6B299-8FDB-C4AC-8AF2-FE3D57506232}"/>
              </a:ext>
            </a:extLst>
          </p:cNvPr>
          <p:cNvSpPr>
            <a:spLocks noGrp="1"/>
          </p:cNvSpPr>
          <p:nvPr>
            <p:ph idx="1"/>
          </p:nvPr>
        </p:nvSpPr>
        <p:spPr>
          <a:xfrm>
            <a:off x="2589212" y="1659467"/>
            <a:ext cx="8915400" cy="3777622"/>
          </a:xfrm>
        </p:spPr>
        <p:txBody>
          <a:bodyPr/>
          <a:lstStyle/>
          <a:p>
            <a:r>
              <a:rPr lang="en-US" dirty="0"/>
              <a:t>We cannot input a </a:t>
            </a:r>
            <a:r>
              <a:rPr lang="en-US" dirty="0" err="1"/>
              <a:t>pdb</a:t>
            </a:r>
            <a:r>
              <a:rPr lang="en-US" dirty="0"/>
              <a:t> file to a </a:t>
            </a:r>
            <a:r>
              <a:rPr lang="en-US" dirty="0" err="1"/>
              <a:t>apbs</a:t>
            </a:r>
            <a:r>
              <a:rPr lang="en-US" dirty="0"/>
              <a:t> command line. There a </a:t>
            </a:r>
            <a:r>
              <a:rPr lang="en-US" b="1" dirty="0" err="1"/>
              <a:t>protein.in</a:t>
            </a:r>
            <a:r>
              <a:rPr lang="en-US" b="1" dirty="0"/>
              <a:t> </a:t>
            </a:r>
            <a:r>
              <a:rPr lang="en-US" dirty="0"/>
              <a:t>is inputted with a particular format. Let’s take a look at the documentations on how this works.</a:t>
            </a:r>
            <a:endParaRPr lang="en-US" b="1" dirty="0"/>
          </a:p>
          <a:p>
            <a:r>
              <a:rPr lang="en-US" b="1" dirty="0"/>
              <a:t>Good thing is </a:t>
            </a:r>
            <a:r>
              <a:rPr lang="en-US" dirty="0"/>
              <a:t>pdb2pqr command automatically generated the best input file wherein we can setup our parameters for the process to run.</a:t>
            </a:r>
          </a:p>
          <a:p>
            <a:r>
              <a:rPr lang="en-US" dirty="0" err="1"/>
              <a:t>Lets’s</a:t>
            </a:r>
            <a:r>
              <a:rPr lang="en-US" dirty="0"/>
              <a:t> have a practical example of pdb2pqr!</a:t>
            </a:r>
          </a:p>
          <a:p>
            <a:r>
              <a:rPr lang="en-US" dirty="0"/>
              <a:t>If you don’t understand what to use to get the best output, the webservers provide an amazing feature of highlighting the parameters for you</a:t>
            </a:r>
          </a:p>
        </p:txBody>
      </p:sp>
      <p:pic>
        <p:nvPicPr>
          <p:cNvPr id="5" name="Picture 4">
            <a:extLst>
              <a:ext uri="{FF2B5EF4-FFF2-40B4-BE49-F238E27FC236}">
                <a16:creationId xmlns:a16="http://schemas.microsoft.com/office/drawing/2014/main" id="{17E219E0-2D06-5D1A-CD6F-FD514663C5F4}"/>
              </a:ext>
            </a:extLst>
          </p:cNvPr>
          <p:cNvPicPr>
            <a:picLocks noChangeAspect="1"/>
          </p:cNvPicPr>
          <p:nvPr/>
        </p:nvPicPr>
        <p:blipFill>
          <a:blip r:embed="rId2"/>
          <a:stretch>
            <a:fillRect/>
          </a:stretch>
        </p:blipFill>
        <p:spPr>
          <a:xfrm>
            <a:off x="3649839" y="4493990"/>
            <a:ext cx="5727700" cy="1739900"/>
          </a:xfrm>
          <a:prstGeom prst="rect">
            <a:avLst/>
          </a:prstGeom>
        </p:spPr>
      </p:pic>
    </p:spTree>
    <p:extLst>
      <p:ext uri="{BB962C8B-B14F-4D97-AF65-F5344CB8AC3E}">
        <p14:creationId xmlns:p14="http://schemas.microsoft.com/office/powerpoint/2010/main" val="2182300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CDCB2-D016-BAEF-5E5C-F669C59ECD36}"/>
              </a:ext>
            </a:extLst>
          </p:cNvPr>
          <p:cNvSpPr>
            <a:spLocks noGrp="1"/>
          </p:cNvSpPr>
          <p:nvPr>
            <p:ph type="title"/>
          </p:nvPr>
        </p:nvSpPr>
        <p:spPr/>
        <p:txBody>
          <a:bodyPr/>
          <a:lstStyle/>
          <a:p>
            <a:r>
              <a:rPr lang="en-US" dirty="0"/>
              <a:t>But what does pdb2pqr exactly do?</a:t>
            </a:r>
          </a:p>
        </p:txBody>
      </p:sp>
      <p:sp>
        <p:nvSpPr>
          <p:cNvPr id="3" name="Content Placeholder 2">
            <a:extLst>
              <a:ext uri="{FF2B5EF4-FFF2-40B4-BE49-F238E27FC236}">
                <a16:creationId xmlns:a16="http://schemas.microsoft.com/office/drawing/2014/main" id="{D1CBC15C-5ADD-6210-EFF9-C2FAD9C84294}"/>
              </a:ext>
            </a:extLst>
          </p:cNvPr>
          <p:cNvSpPr>
            <a:spLocks noGrp="1"/>
          </p:cNvSpPr>
          <p:nvPr>
            <p:ph idx="1"/>
          </p:nvPr>
        </p:nvSpPr>
        <p:spPr/>
        <p:txBody>
          <a:bodyPr>
            <a:normAutofit/>
          </a:bodyPr>
          <a:lstStyle/>
          <a:p>
            <a:r>
              <a:rPr lang="en-US" sz="2400" dirty="0"/>
              <a:t>Adding a limited number of missing heavy (non-hydrogen) atoms to biomolecular structures. </a:t>
            </a:r>
          </a:p>
          <a:p>
            <a:r>
              <a:rPr lang="en-US" sz="2400" dirty="0"/>
              <a:t>Estimating titration states and protonating biomolecules in a manner consistent with favorable hydrogen bonding. </a:t>
            </a:r>
          </a:p>
          <a:p>
            <a:r>
              <a:rPr lang="en-US" sz="2400" dirty="0"/>
              <a:t>Assigning charge and radius parameters from a variety of force fields. </a:t>
            </a:r>
          </a:p>
        </p:txBody>
      </p:sp>
    </p:spTree>
    <p:extLst>
      <p:ext uri="{BB962C8B-B14F-4D97-AF65-F5344CB8AC3E}">
        <p14:creationId xmlns:p14="http://schemas.microsoft.com/office/powerpoint/2010/main" val="376712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95875-CB80-C90C-A9F3-478844435862}"/>
              </a:ext>
            </a:extLst>
          </p:cNvPr>
          <p:cNvSpPr>
            <a:spLocks noGrp="1"/>
          </p:cNvSpPr>
          <p:nvPr>
            <p:ph type="title"/>
          </p:nvPr>
        </p:nvSpPr>
        <p:spPr/>
        <p:txBody>
          <a:bodyPr>
            <a:normAutofit/>
          </a:bodyPr>
          <a:lstStyle/>
          <a:p>
            <a:r>
              <a:rPr lang="en-US" sz="4000" dirty="0"/>
              <a:t>Running APBS</a:t>
            </a:r>
          </a:p>
        </p:txBody>
      </p:sp>
      <p:sp>
        <p:nvSpPr>
          <p:cNvPr id="3" name="Content Placeholder 2">
            <a:extLst>
              <a:ext uri="{FF2B5EF4-FFF2-40B4-BE49-F238E27FC236}">
                <a16:creationId xmlns:a16="http://schemas.microsoft.com/office/drawing/2014/main" id="{1813C3B2-288B-9724-0538-7CB1A86CB15C}"/>
              </a:ext>
            </a:extLst>
          </p:cNvPr>
          <p:cNvSpPr>
            <a:spLocks noGrp="1"/>
          </p:cNvSpPr>
          <p:nvPr>
            <p:ph idx="1"/>
          </p:nvPr>
        </p:nvSpPr>
        <p:spPr/>
        <p:txBody>
          <a:bodyPr>
            <a:normAutofit fontScale="92500"/>
          </a:bodyPr>
          <a:lstStyle/>
          <a:p>
            <a:r>
              <a:rPr lang="en-US" sz="2800" dirty="0"/>
              <a:t>Once you are done with the input file. Just run the magic!</a:t>
            </a:r>
          </a:p>
          <a:p>
            <a:r>
              <a:rPr lang="en-US" sz="2800" dirty="0"/>
              <a:t>From this you will get a .dx file whose format is as we discussed before. You will have to write a code which will extract the potential at each grid point. </a:t>
            </a:r>
          </a:p>
          <a:p>
            <a:endParaRPr lang="en-US" sz="2800" dirty="0"/>
          </a:p>
          <a:p>
            <a:r>
              <a:rPr lang="en-US" sz="2800" dirty="0"/>
              <a:t>You can visualize this in PYMOL, webserver or any other software as well!</a:t>
            </a:r>
          </a:p>
        </p:txBody>
      </p:sp>
    </p:spTree>
    <p:extLst>
      <p:ext uri="{BB962C8B-B14F-4D97-AF65-F5344CB8AC3E}">
        <p14:creationId xmlns:p14="http://schemas.microsoft.com/office/powerpoint/2010/main" val="2262119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F3016-A8EF-3A87-2792-76D32E0FF416}"/>
              </a:ext>
            </a:extLst>
          </p:cNvPr>
          <p:cNvSpPr>
            <a:spLocks noGrp="1"/>
          </p:cNvSpPr>
          <p:nvPr>
            <p:ph type="title"/>
          </p:nvPr>
        </p:nvSpPr>
        <p:spPr>
          <a:xfrm>
            <a:off x="3699237" y="1851378"/>
            <a:ext cx="4440052" cy="3466901"/>
          </a:xfrm>
        </p:spPr>
        <p:txBody>
          <a:bodyPr>
            <a:normAutofit/>
          </a:bodyPr>
          <a:lstStyle/>
          <a:p>
            <a:pPr algn="ctr"/>
            <a:r>
              <a:rPr lang="en-US" sz="5400" dirty="0"/>
              <a:t>That’s it!</a:t>
            </a:r>
            <a:br>
              <a:rPr lang="en-US" sz="5400" dirty="0"/>
            </a:br>
            <a:br>
              <a:rPr lang="en-US" sz="5400" dirty="0"/>
            </a:br>
            <a:r>
              <a:rPr lang="en-US" sz="5400" dirty="0" err="1"/>
              <a:t>QnA’s</a:t>
            </a:r>
            <a:endParaRPr lang="en-US" sz="5400" dirty="0"/>
          </a:p>
        </p:txBody>
      </p:sp>
      <p:sp>
        <p:nvSpPr>
          <p:cNvPr id="5" name="TextBox 4">
            <a:extLst>
              <a:ext uri="{FF2B5EF4-FFF2-40B4-BE49-F238E27FC236}">
                <a16:creationId xmlns:a16="http://schemas.microsoft.com/office/drawing/2014/main" id="{C1CFDE22-56CC-A01C-9C5D-63D252D8344E}"/>
              </a:ext>
            </a:extLst>
          </p:cNvPr>
          <p:cNvSpPr txBox="1"/>
          <p:nvPr/>
        </p:nvSpPr>
        <p:spPr>
          <a:xfrm>
            <a:off x="5014996" y="5934753"/>
            <a:ext cx="1991251" cy="461665"/>
          </a:xfrm>
          <a:prstGeom prst="rect">
            <a:avLst/>
          </a:prstGeom>
          <a:noFill/>
        </p:spPr>
        <p:txBody>
          <a:bodyPr wrap="none" rtlCol="0">
            <a:spAutoFit/>
          </a:bodyPr>
          <a:lstStyle/>
          <a:p>
            <a:r>
              <a:rPr lang="en-US" sz="2400" dirty="0"/>
              <a:t>THANK YOU!</a:t>
            </a:r>
          </a:p>
        </p:txBody>
      </p:sp>
    </p:spTree>
    <p:extLst>
      <p:ext uri="{BB962C8B-B14F-4D97-AF65-F5344CB8AC3E}">
        <p14:creationId xmlns:p14="http://schemas.microsoft.com/office/powerpoint/2010/main" val="312697845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{56B0C351-1FD7-CA4E-A8A1-13B9B0F3B179}tf10001069</Template>
  <TotalTime>3658</TotalTime>
  <Words>1778</Words>
  <Application>Microsoft Macintosh PowerPoint</Application>
  <PresentationFormat>Widescreen</PresentationFormat>
  <Paragraphs>153</Paragraphs>
  <Slides>23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-webkit-standard</vt:lpstr>
      <vt:lpstr>Arial</vt:lpstr>
      <vt:lpstr>Calibri</vt:lpstr>
      <vt:lpstr>Century Gothic</vt:lpstr>
      <vt:lpstr>Wingdings 3</vt:lpstr>
      <vt:lpstr>Wisp</vt:lpstr>
      <vt:lpstr>AIIM – 2024 Insights on Computation Biology  &amp; Structural Visualization of Proteins</vt:lpstr>
      <vt:lpstr>What we will cover today – Part I</vt:lpstr>
      <vt:lpstr>What we will cover today – Part II</vt:lpstr>
      <vt:lpstr>Introduction to Computational Biology</vt:lpstr>
      <vt:lpstr>Computation Biology for Protein Analysis</vt:lpstr>
      <vt:lpstr>Softwares used for Protein Analysis</vt:lpstr>
      <vt:lpstr>Let’s Discuss Various Files commonly used  1. PDB(Protein Data Bank)</vt:lpstr>
      <vt:lpstr>PowerPoint Presentation</vt:lpstr>
      <vt:lpstr>2. PQR File P – Position Q- Charge R- Radius</vt:lpstr>
      <vt:lpstr>3. XYZ Format</vt:lpstr>
      <vt:lpstr>PYMOL UI: Let’s get our hands dirty </vt:lpstr>
      <vt:lpstr>PART 2: Displaying sequences and Coloring</vt:lpstr>
      <vt:lpstr>PART 4: Morphing two proteins</vt:lpstr>
      <vt:lpstr>PYTHON AND PYMOL</vt:lpstr>
      <vt:lpstr>List of Some commands for python</vt:lpstr>
      <vt:lpstr>List of Some commands for python</vt:lpstr>
      <vt:lpstr>APBS ELECTROSTATICS  (Adaptive Poisson Boltzmann Solver)  WHAT IS APBS?</vt:lpstr>
      <vt:lpstr>USING APBS</vt:lpstr>
      <vt:lpstr>Command line tool usages</vt:lpstr>
      <vt:lpstr>PDB2PQR and input file for APBS</vt:lpstr>
      <vt:lpstr>But what does pdb2pqr exactly do?</vt:lpstr>
      <vt:lpstr>Running APBS</vt:lpstr>
      <vt:lpstr>That’s it!  QnA’s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Anirudh Gupta</dc:creator>
  <cp:lastModifiedBy>Anirudh Gupta</cp:lastModifiedBy>
  <cp:revision>2</cp:revision>
  <dcterms:created xsi:type="dcterms:W3CDTF">2024-07-22T16:26:57Z</dcterms:created>
  <dcterms:modified xsi:type="dcterms:W3CDTF">2024-07-26T08:18:38Z</dcterms:modified>
</cp:coreProperties>
</file>